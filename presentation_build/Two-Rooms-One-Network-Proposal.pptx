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bf7001be654130" /><Relationship Type="http://schemas.openxmlformats.org/officeDocument/2006/relationships/extended-properties" Target="/docProps/app.xml" Id="Rdd865e052d994994" /><Relationship Type="http://schemas.openxmlformats.org/officeDocument/2006/relationships/officeDocument" Target="/ppt/presentation.xml" Id="R4ed9d7d25ddf40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a090ede2a94857"/>
  </p:sldMasterIdLst>
  <p:notesMasterIdLst>
    <p:notesMasterId xmlns:r="http://schemas.openxmlformats.org/officeDocument/2006/relationships" r:id="R491a260122f144dd"/>
  </p:notesMasterIdLst>
  <p:sldIdLst>
    <p:sldId xmlns:r="http://schemas.openxmlformats.org/officeDocument/2006/relationships" id="256" r:id="R19008b6c82a24d3d"/>
    <p:sldId xmlns:r="http://schemas.openxmlformats.org/officeDocument/2006/relationships" id="257" r:id="Ra7c95a7cb1fa4786"/>
    <p:sldId xmlns:r="http://schemas.openxmlformats.org/officeDocument/2006/relationships" id="258" r:id="R97382b1d6d034089"/>
    <p:sldId xmlns:r="http://schemas.openxmlformats.org/officeDocument/2006/relationships" id="259" r:id="R0a66daa4c7704d1b"/>
    <p:sldId xmlns:r="http://schemas.openxmlformats.org/officeDocument/2006/relationships" id="260" r:id="R13910f90bd63455d"/>
    <p:sldId xmlns:r="http://schemas.openxmlformats.org/officeDocument/2006/relationships" id="261" r:id="R12ca2ae63fd9445b"/>
    <p:sldId xmlns:r="http://schemas.openxmlformats.org/officeDocument/2006/relationships" id="262" r:id="R373f89269830448f"/>
    <p:sldId xmlns:r="http://schemas.openxmlformats.org/officeDocument/2006/relationships" id="263" r:id="R2c942508382049ed"/>
    <p:sldId xmlns:r="http://schemas.openxmlformats.org/officeDocument/2006/relationships" id="264" r:id="R6beb2e464677429f"/>
    <p:sldId xmlns:r="http://schemas.openxmlformats.org/officeDocument/2006/relationships" id="265" r:id="Re368f7a132b54e8e"/>
    <p:sldId xmlns:r="http://schemas.openxmlformats.org/officeDocument/2006/relationships" id="266" r:id="R5e52a0dcbf4c4c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560f8392b64f5f" /><Relationship Type="http://schemas.openxmlformats.org/officeDocument/2006/relationships/slideMaster" Target="/ppt/slideMasters/slideMaster1.xml" Id="R35a090ede2a94857" /><Relationship Type="http://schemas.openxmlformats.org/officeDocument/2006/relationships/notesMaster" Target="/ppt/notesMasters/notesMaster1.xml" Id="R491a260122f144dd" /><Relationship Type="http://schemas.openxmlformats.org/officeDocument/2006/relationships/presProps" Target="/ppt/presProps.xml" Id="R73f1242f16584a4b" /><Relationship Type="http://schemas.openxmlformats.org/officeDocument/2006/relationships/tableStyles" Target="/ppt/tableStyles.xml" Id="R36f08a78dc1a406a" /><Relationship Type="http://schemas.openxmlformats.org/officeDocument/2006/relationships/slide" Target="/ppt/slides/slide1.xml" Id="R19008b6c82a24d3d" /><Relationship Type="http://schemas.openxmlformats.org/officeDocument/2006/relationships/slide" Target="/ppt/slides/slide2.xml" Id="Ra7c95a7cb1fa4786" /><Relationship Type="http://schemas.openxmlformats.org/officeDocument/2006/relationships/slide" Target="/ppt/slides/slide3.xml" Id="R97382b1d6d034089" /><Relationship Type="http://schemas.openxmlformats.org/officeDocument/2006/relationships/slide" Target="/ppt/slides/slide4.xml" Id="R0a66daa4c7704d1b" /><Relationship Type="http://schemas.openxmlformats.org/officeDocument/2006/relationships/slide" Target="/ppt/slides/slide5.xml" Id="R13910f90bd63455d" /><Relationship Type="http://schemas.openxmlformats.org/officeDocument/2006/relationships/slide" Target="/ppt/slides/slide6.xml" Id="R12ca2ae63fd9445b" /><Relationship Type="http://schemas.openxmlformats.org/officeDocument/2006/relationships/slide" Target="/ppt/slides/slide7.xml" Id="R373f89269830448f" /><Relationship Type="http://schemas.openxmlformats.org/officeDocument/2006/relationships/slide" Target="/ppt/slides/slide8.xml" Id="R2c942508382049ed" /><Relationship Type="http://schemas.openxmlformats.org/officeDocument/2006/relationships/slide" Target="/ppt/slides/slide9.xml" Id="R6beb2e464677429f" /><Relationship Type="http://schemas.openxmlformats.org/officeDocument/2006/relationships/slide" Target="/ppt/slides/slide10.xml" Id="Re368f7a132b54e8e" /><Relationship Type="http://schemas.openxmlformats.org/officeDocument/2006/relationships/slide" Target="/ppt/slides/slide11.xml" Id="R5e52a0dcbf4c4c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dfbe7cc7bd43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49d2da8faa4d44" /><Relationship Type="http://schemas.openxmlformats.org/officeDocument/2006/relationships/notesMaster" Target="/ppt/notesMasters/notesMaster1.xml" Id="Rcc3d229f173941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aa0eb7dcf941f7" /><Relationship Type="http://schemas.openxmlformats.org/officeDocument/2006/relationships/notesMaster" Target="/ppt/notesMasters/notesMaster1.xml" Id="R50f5878de94442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658829e4d949cf" /><Relationship Type="http://schemas.openxmlformats.org/officeDocument/2006/relationships/notesMaster" Target="/ppt/notesMasters/notesMaster1.xml" Id="R76fb2860d8a54f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c743d8404d4099" /><Relationship Type="http://schemas.openxmlformats.org/officeDocument/2006/relationships/notesMaster" Target="/ppt/notesMasters/notesMaster1.xml" Id="R06970fe685434c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47def4c83f4aa0" /><Relationship Type="http://schemas.openxmlformats.org/officeDocument/2006/relationships/notesMaster" Target="/ppt/notesMasters/notesMaster1.xml" Id="Rcf53e363cf964b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1097dd65764777" /><Relationship Type="http://schemas.openxmlformats.org/officeDocument/2006/relationships/notesMaster" Target="/ppt/notesMasters/notesMaster1.xml" Id="R2f4710c5d0184b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c7b0b3243c4d84" /><Relationship Type="http://schemas.openxmlformats.org/officeDocument/2006/relationships/notesMaster" Target="/ppt/notesMasters/notesMaster1.xml" Id="Rb194dfbaa05c41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20cd8215d740fd" /><Relationship Type="http://schemas.openxmlformats.org/officeDocument/2006/relationships/notesMaster" Target="/ppt/notesMasters/notesMaster1.xml" Id="Rb8675e0d549440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d8843f9a464fc9" /><Relationship Type="http://schemas.openxmlformats.org/officeDocument/2006/relationships/notesMaster" Target="/ppt/notesMasters/notesMaster1.xml" Id="R5a5706f069ff44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8628202c7f43f0" /><Relationship Type="http://schemas.openxmlformats.org/officeDocument/2006/relationships/notesMaster" Target="/ppt/notesMasters/notesMaster1.xml" Id="R2a118d3299264e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b6c9389709407f" /><Relationship Type="http://schemas.openxmlformats.org/officeDocument/2006/relationships/notesMaster" Target="/ppt/notesMasters/notesMaster1.xml" Id="Rd1fc6652ce664d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D:/My_All_proj/Game_Network</a:t>
            </a:r>
          </a:p>
          <a:p xmlns:a="http://schemas.openxmlformats.org/drawingml/2006/main">
            <a:r>
              <a:t>User-provided character assets: public/assets/character-left.png; public/assets/character-right.png</a:t>
            </a:r>
          </a:p>
          <a:p xmlns:a="http://schemas.openxmlformats.org/drawingml/2006/main">
            <a:r>
              <a:t>Canva reference style: https://www.canva.com/design/DAHSD8Cw5gA/2Iw2DNIp0aT7Tpd2Gez0_Q/edit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D:/My_All_proj/Game_Network</a:t>
            </a:r>
          </a:p>
          <a:p xmlns:a="http://schemas.openxmlformats.org/drawingml/2006/main">
            <a:r>
              <a:t>User-provided character assets: public/assets/character-left.png; public/assets/character-right.png</a:t>
            </a:r>
          </a:p>
          <a:p xmlns:a="http://schemas.openxmlformats.org/drawingml/2006/main">
            <a:r>
              <a:t>Canva reference style: https://www.canva.com/design/DAHSD8Cw5gA/2Iw2DNIp0aT7Tpd2Gez0_Q/edit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D:/My_All_proj/Game_Network</a:t>
            </a:r>
          </a:p>
          <a:p xmlns:a="http://schemas.openxmlformats.org/drawingml/2006/main">
            <a:r>
              <a:t>User-provided character assets: public/assets/character-left.png; public/assets/character-right.png</a:t>
            </a:r>
          </a:p>
          <a:p xmlns:a="http://schemas.openxmlformats.org/drawingml/2006/main">
            <a:r>
              <a:t>Canva reference style: https://www.canva.com/design/DAHSD8Cw5gA/2Iw2DNIp0aT7Tpd2Gez0_Q/edit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D:/My_All_proj/Game_Network</a:t>
            </a:r>
          </a:p>
          <a:p xmlns:a="http://schemas.openxmlformats.org/drawingml/2006/main">
            <a:r>
              <a:t>User-provided character assets: public/assets/character-left.png; public/assets/character-right.png</a:t>
            </a:r>
          </a:p>
          <a:p xmlns:a="http://schemas.openxmlformats.org/drawingml/2006/main">
            <a:r>
              <a:t>Canva reference style: https://www.canva.com/design/DAHSD8Cw5gA/2Iw2DNIp0aT7Tpd2Gez0_Q/edit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D:/My_All_proj/Game_Network</a:t>
            </a:r>
          </a:p>
          <a:p xmlns:a="http://schemas.openxmlformats.org/drawingml/2006/main">
            <a:r>
              <a:t>User-provided character assets: public/assets/character-left.png; public/assets/character-right.png</a:t>
            </a:r>
          </a:p>
          <a:p xmlns:a="http://schemas.openxmlformats.org/drawingml/2006/main">
            <a:r>
              <a:t>Canva reference style: https://www.canva.com/design/DAHSD8Cw5gA/2Iw2DNIp0aT7Tpd2Gez0_Q/edit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D:/My_All_proj/Game_Network</a:t>
            </a:r>
          </a:p>
          <a:p xmlns:a="http://schemas.openxmlformats.org/drawingml/2006/main">
            <a:r>
              <a:t>User-provided character assets: public/assets/character-left.png; public/assets/character-right.png</a:t>
            </a:r>
          </a:p>
          <a:p xmlns:a="http://schemas.openxmlformats.org/drawingml/2006/main">
            <a:r>
              <a:t>Canva reference style: https://www.canva.com/design/DAHSD8Cw5gA/2Iw2DNIp0aT7Tpd2Gez0_Q/edit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D:/My_All_proj/Game_Network</a:t>
            </a:r>
          </a:p>
          <a:p xmlns:a="http://schemas.openxmlformats.org/drawingml/2006/main">
            <a:r>
              <a:t>User-provided character assets: public/assets/character-left.png; public/assets/character-right.png</a:t>
            </a:r>
          </a:p>
          <a:p xmlns:a="http://schemas.openxmlformats.org/drawingml/2006/main">
            <a:r>
              <a:t>Canva reference style: https://www.canva.com/design/DAHSD8Cw5gA/2Iw2DNIp0aT7Tpd2Gez0_Q/edit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D:/My_All_proj/Game_Network</a:t>
            </a:r>
          </a:p>
          <a:p xmlns:a="http://schemas.openxmlformats.org/drawingml/2006/main">
            <a:r>
              <a:t>User-provided character assets: public/assets/character-left.png; public/assets/character-right.png</a:t>
            </a:r>
          </a:p>
          <a:p xmlns:a="http://schemas.openxmlformats.org/drawingml/2006/main">
            <a:r>
              <a:t>Canva reference style: https://www.canva.com/design/DAHSD8Cw5gA/2Iw2DNIp0aT7Tpd2Gez0_Q/edit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D:/My_All_proj/Game_Network</a:t>
            </a:r>
          </a:p>
          <a:p xmlns:a="http://schemas.openxmlformats.org/drawingml/2006/main">
            <a:r>
              <a:t>User-provided character assets: public/assets/character-left.png; public/assets/character-right.png</a:t>
            </a:r>
          </a:p>
          <a:p xmlns:a="http://schemas.openxmlformats.org/drawingml/2006/main">
            <a:r>
              <a:t>Canva reference style: https://www.canva.com/design/DAHSD8Cw5gA/2Iw2DNIp0aT7Tpd2Gez0_Q/edit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D:/My_All_proj/Game_Network</a:t>
            </a:r>
          </a:p>
          <a:p xmlns:a="http://schemas.openxmlformats.org/drawingml/2006/main">
            <a:r>
              <a:t>User-provided character assets: public/assets/character-left.png; public/assets/character-right.png</a:t>
            </a:r>
          </a:p>
          <a:p xmlns:a="http://schemas.openxmlformats.org/drawingml/2006/main">
            <a:r>
              <a:t>Canva reference style: https://www.canva.com/design/DAHSD8Cw5gA/2Iw2DNIp0aT7Tpd2Gez0_Q/edit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D:/My_All_proj/Game_Network</a:t>
            </a:r>
          </a:p>
          <a:p xmlns:a="http://schemas.openxmlformats.org/drawingml/2006/main">
            <a:r>
              <a:t>User-provided character assets: public/assets/character-left.png; public/assets/character-right.png</a:t>
            </a:r>
          </a:p>
          <a:p xmlns:a="http://schemas.openxmlformats.org/drawingml/2006/main">
            <a:r>
              <a:t>Canva reference style: https://www.canva.com/design/DAHSD8Cw5gA/2Iw2DNIp0aT7Tpd2Gez0_Q/edit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506f569f44c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14fa2b45184fc2" /><Relationship Type="http://schemas.openxmlformats.org/officeDocument/2006/relationships/slideLayout" Target="/ppt/slideLayouts/slideLayout1.xml" Id="Rbccfeb2921d340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cfeb2921d340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b12f022df47b7" /><Relationship Type="http://schemas.openxmlformats.org/officeDocument/2006/relationships/image" Target="/ppt/media/image.png" Id="R429d6b5faf8244c7" /><Relationship Type="http://schemas.openxmlformats.org/officeDocument/2006/relationships/image" Target="/ppt/media/image2.png" Id="R4dabfd7671ee48ca" /><Relationship Type="http://schemas.openxmlformats.org/officeDocument/2006/relationships/notesSlide" Target="/ppt/notesSlides/notesSlide1.xml" Id="Reeb26b221d4c4a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692a4399349f4" /><Relationship Type="http://schemas.openxmlformats.org/officeDocument/2006/relationships/notesSlide" Target="/ppt/notesSlides/notesSlide2.xml" Id="Rb2686c18396d43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f08f54a364609" /><Relationship Type="http://schemas.openxmlformats.org/officeDocument/2006/relationships/notesSlide" Target="/ppt/notesSlides/notesSlide3.xml" Id="R0615c13fec8b40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cbd7b17634090" /><Relationship Type="http://schemas.openxmlformats.org/officeDocument/2006/relationships/notesSlide" Target="/ppt/notesSlides/notesSlide4.xml" Id="R176d2983c9d643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fd0363f014ca7" /><Relationship Type="http://schemas.openxmlformats.org/officeDocument/2006/relationships/notesSlide" Target="/ppt/notesSlides/notesSlide5.xml" Id="R00bdaae6557b41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064446b9248a3" /><Relationship Type="http://schemas.openxmlformats.org/officeDocument/2006/relationships/image" Target="/ppt/media/image3.png" Id="R14cb870c5cc84e17" /><Relationship Type="http://schemas.openxmlformats.org/officeDocument/2006/relationships/notesSlide" Target="/ppt/notesSlides/notesSlide6.xml" Id="Rb7bb14423c8c49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5374d12744451" /><Relationship Type="http://schemas.openxmlformats.org/officeDocument/2006/relationships/notesSlide" Target="/ppt/notesSlides/notesSlide7.xml" Id="Rf7c1e17c4b7d41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00fb0534b4f43" /><Relationship Type="http://schemas.openxmlformats.org/officeDocument/2006/relationships/notesSlide" Target="/ppt/notesSlides/notesSlide8.xml" Id="Re213997b6c5d4e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67facb6e94321" /><Relationship Type="http://schemas.openxmlformats.org/officeDocument/2006/relationships/notesSlide" Target="/ppt/notesSlides/notesSlide9.xml" Id="R82e99945809842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1f8c3a5a8454c" /><Relationship Type="http://schemas.openxmlformats.org/officeDocument/2006/relationships/notesSlide" Target="/ppt/notesSlides/notesSlide10.xml" Id="R4541247b20054b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34ae3e6c240ab" /><Relationship Type="http://schemas.openxmlformats.org/officeDocument/2006/relationships/image" Target="/ppt/media/image4.png" Id="Rfc4f63ef124741bf" /><Relationship Type="http://schemas.openxmlformats.org/officeDocument/2006/relationships/image" Target="/ppt/media/image5.png" Id="Rc484d0e4593843e7" /><Relationship Type="http://schemas.openxmlformats.org/officeDocument/2006/relationships/notesSlide" Target="/ppt/notesSlides/notesSlide11.xml" Id="R7bfc6226e1a543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9DE95-89D7-4966-BCE4-BA0403B7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D7D64-2AD8-4288-88BD-E4894B47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5322D"/>
                </a:solidFill>
              </a:defRPr>
            </a:pPr>
            <a:r>
              <a:rPr sz="975" b="1">
                <a:solidFill>
                  <a:srgbClr val="A5322D"/>
                </a:solidFill>
              </a:rPr>
              <a:t>ESCAPE ROOM  /  NETWORK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6D6D4-CA37-4C22-AF9D-4FA6863B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B2926"/>
                </a:solidFill>
              </a:defRPr>
            </a:pPr>
            <a:r>
              <a:rPr sz="4350" b="1">
                <a:solidFill>
                  <a:srgbClr val="2B2926"/>
                </a:solidFill>
              </a:rPr>
              <a:t>Two Rooms,</a:t>
            </a:r>
          </a:p>
          <a:p xmlns:a="http://schemas.openxmlformats.org/drawingml/2006/main">
            <a:pPr algn="l">
              <a:defRPr sz="4350" b="1">
                <a:solidFill>
                  <a:srgbClr val="2B2926"/>
                </a:solidFill>
              </a:defRPr>
            </a:pPr>
            <a:r>
              <a:rPr sz="4350" b="1">
                <a:solidFill>
                  <a:srgbClr val="2B2926"/>
                </a:solidFill>
              </a:rPr>
              <a:t>One Network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A7044-53CB-44A4-A655-1B88FC6F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4931"/>
                </a:solidFill>
              </a:defRPr>
            </a:pPr>
            <a:r>
              <a:rPr sz="1650" b="0">
                <a:solidFill>
                  <a:srgbClr val="6B4931"/>
                </a:solidFill>
              </a:rPr>
              <a:t>เกม 2D Co-op ที่เปลี่ยนปัญหา Network ให้เป็นภารกิจที่ต้องสื่อสารกัน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81F67-7905-470E-AC12-E5E65449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31E06-5539-44A4-8C80-BA68E91D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671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5322D"/>
                </a:solidFill>
              </a:defRPr>
            </a:pPr>
            <a:r>
              <a:rPr sz="825" b="1">
                <a:solidFill>
                  <a:srgbClr val="A5322D"/>
                </a:solidFill>
              </a:rPr>
              <a:t>CP422011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69B1B-F942-4709-BE48-FB4CFA9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926"/>
                </a:solidFill>
              </a:defRPr>
            </a:pPr>
            <a:r>
              <a:rPr sz="1200" b="0">
                <a:solidFill>
                  <a:srgbClr val="2B2926"/>
                </a:solidFill>
              </a:rPr>
              <a:t>GROUP [  ]   •   MEMBERS [ ใส่ชื่อสมาชิก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58A4A-A119-489F-A46C-B4101373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95375"/>
            <a:ext cx="3905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BD007-B89A-4202-879B-D335C004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B9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d6b5faf8244c7"/>
          <a:stretch xmlns:a="http://schemas.openxmlformats.org/drawingml/2006/main"/>
        </p:blipFill>
        <p:spPr>
          <a:xfrm xmlns:a="http://schemas.openxmlformats.org/drawingml/2006/main">
            <a:off x="7429500" y="2476500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bfd7671ee48ca"/>
          <a:stretch xmlns:a="http://schemas.openxmlformats.org/drawingml/2006/main"/>
        </p:blipFill>
        <p:spPr>
          <a:xfrm xmlns:a="http://schemas.openxmlformats.org/drawingml/2006/main">
            <a:off x="9191625" y="247650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8A29B-31DC-43E9-9490-D18A5714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666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C69A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4A13A-D702-487A-8446-4A3F16DF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4325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69A4B"/>
                </a:solidFill>
              </a:defRPr>
            </a:pPr>
            <a:r>
              <a:rPr sz="900" b="1">
                <a:solidFill>
                  <a:srgbClr val="C69A4B"/>
                </a:solidFill>
              </a:rPr>
              <a:t>LOCKED</a:t>
            </a:r>
          </a:p>
          <a:p xmlns:a="http://schemas.openxmlformats.org/drawingml/2006/main">
            <a:pPr algn="ctr">
              <a:defRPr sz="900" b="1">
                <a:solidFill>
                  <a:srgbClr val="C69A4B"/>
                </a:solidFill>
              </a:defRPr>
            </a:pPr>
            <a:r>
              <a:rPr sz="900" b="1">
                <a:solidFill>
                  <a:srgbClr val="C69A4B"/>
                </a:solidFill>
              </a:rPr>
              <a:t>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38875-B43B-43F4-B030-794AE244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4931"/>
                </a:solidFill>
              </a:defRPr>
            </a:pPr>
            <a:r>
              <a:rPr sz="1050" b="0">
                <a:solidFill>
                  <a:srgbClr val="6B4931"/>
                </a:solidFill>
              </a:rPr>
              <a:t>A cooperative networking escape-room prototype</a:t>
            </a:r>
          </a:p>
        </p:txBody>
      </p:sp>
    </p:spTree>
    <p:extLst>
      <p:ext uri="{BB962C8B-B14F-4D97-AF65-F5344CB8AC3E}">
        <p14:creationId xmlns:p14="http://schemas.microsoft.com/office/powerpoint/2010/main" val="958064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F73B2-3D7F-4BBF-A45B-C7DD0ED8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8E9AD-0116-4062-83AB-DB859F12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CASE FILE  /  01 / THE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5300E-5828-47D0-87EF-9D234F0C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926"/>
                </a:solidFill>
              </a:defRPr>
            </a:pPr>
            <a:r>
              <a:rPr sz="2550" b="1">
                <a:solidFill>
                  <a:srgbClr val="2B2926"/>
                </a:solidFill>
              </a:rPr>
              <a:t>Networking concepts are hard to remember when they stay on the page.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755B9-2CE8-4781-8DF3-6D118301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CC0AC-B176-46B7-AB21-90E89BAF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6C61A-09AD-4262-9D96-9B0F7C2C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5322D"/>
                </a:solidFill>
              </a:defRPr>
            </a:pPr>
            <a:r>
              <a:rPr sz="1800" b="1">
                <a:solidFill>
                  <a:srgbClr val="A5322D"/>
                </a:solidFill>
              </a:rPr>
              <a:t>The learning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34BD8-B9ED-4686-984D-72D54609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926"/>
                </a:solidFill>
              </a:defRPr>
            </a:pPr>
            <a:r>
              <a:rPr sz="1575" b="0">
                <a:solidFill>
                  <a:srgbClr val="2B2926"/>
                </a:solidFill>
              </a:rPr>
              <a:t>• Commands are memorized without understanding the network state.</a:t>
            </a:r>
          </a:p>
          <a:p xmlns:a="http://schemas.openxmlformats.org/drawingml/2006/main">
            <a:pPr algn="l">
              <a:defRPr sz="1575" b="0">
                <a:solidFill>
                  <a:srgbClr val="2B2926"/>
                </a:solidFill>
              </a:defRPr>
            </a:pPr>
            <a:r>
              <a:rPr sz="1575" b="0">
                <a:solidFill>
                  <a:srgbClr val="2B2926"/>
                </a:solidFill>
              </a:rPr>
              <a:t>• Traditional exercises rarely require two incomplete viewpoints.</a:t>
            </a:r>
          </a:p>
          <a:p xmlns:a="http://schemas.openxmlformats.org/drawingml/2006/main">
            <a:pPr algn="l">
              <a:defRPr sz="1575" b="0">
                <a:solidFill>
                  <a:srgbClr val="2B2926"/>
                </a:solidFill>
              </a:defRPr>
            </a:pPr>
            <a:r>
              <a:rPr sz="1575" b="0">
                <a:solidFill>
                  <a:srgbClr val="2B2926"/>
                </a:solidFill>
              </a:rPr>
              <a:t>• Students need to connect reachability, routing, DNS and ports to one diagnosis.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22ACA-C4F3-4736-8C53-10834AFB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4C22E-D3ED-4C49-AEDE-AABD537B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765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2926"/>
                </a:solidFill>
              </a:defRPr>
            </a:pPr>
            <a:r>
              <a:rPr sz="1875" b="1">
                <a:solidFill>
                  <a:srgbClr val="2B2926"/>
                </a:solidFill>
              </a:rPr>
              <a:t>IS THE PEER</a:t>
            </a:r>
          </a:p>
          <a:p xmlns:a="http://schemas.openxmlformats.org/drawingml/2006/main">
            <a:pPr algn="ctr">
              <a:defRPr sz="1875" b="1">
                <a:solidFill>
                  <a:srgbClr val="2B2926"/>
                </a:solidFill>
              </a:defRPr>
            </a:pPr>
            <a:r>
              <a:rPr sz="1875" b="1">
                <a:solidFill>
                  <a:srgbClr val="2B2926"/>
                </a:solidFill>
              </a:rPr>
              <a:t>REACHABLE?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A217C-8008-420F-8C83-3064B28D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88BA2-78D2-4A92-B0E1-9EC6D6F1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909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A9B91"/>
                </a:solidFill>
              </a:defRPr>
            </a:pPr>
            <a:r>
              <a:rPr sz="1050" b="0">
                <a:solidFill>
                  <a:srgbClr val="6A9B91"/>
                </a:solidFill>
              </a:rPr>
              <a:t>ping 10.0.0.2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7D0C8-E6E7-448E-90A1-B7E44EF5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B4931"/>
                </a:solidFill>
              </a:defRPr>
            </a:pPr>
            <a:r>
              <a:rPr sz="1425" b="0">
                <a:solidFill>
                  <a:srgbClr val="6B4931"/>
                </a:solidFill>
              </a:rPr>
              <a:t>The game makes the invisible network visible through evidence, action and consequence.</a:t>
            </a:r>
          </a:p>
        </p:txBody>
      </p:sp>
    </p:spTree>
    <p:extLst>
      <p:ext uri="{BB962C8B-B14F-4D97-AF65-F5344CB8AC3E}">
        <p14:creationId xmlns:p14="http://schemas.microsoft.com/office/powerpoint/2010/main" val="1620957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F7D1F-7B91-463D-92DD-251AB996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63173-BD61-4593-AF55-8BD8F024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CASE FILE  /  02 /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F4D49-3344-4EBE-8102-77871A83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926"/>
                </a:solidFill>
              </a:defRPr>
            </a:pPr>
            <a:r>
              <a:rPr sz="2550" b="1">
                <a:solidFill>
                  <a:srgbClr val="2B2926"/>
                </a:solidFill>
              </a:rPr>
              <a:t>The player learns by diagnosing a shared network failure.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6DB81-598A-4248-9E02-C18FFE84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0F22B-DE36-4D07-B8C9-39576306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D98B8-7129-4770-A189-8BF8893A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5322D"/>
                </a:solidFill>
              </a:defRPr>
            </a:pPr>
            <a:r>
              <a:rPr sz="1800" b="1">
                <a:solidFill>
                  <a:srgbClr val="A5322D"/>
                </a:solidFill>
              </a:rPr>
              <a:t>What the prototype must 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476F4-0AD1-42A1-B5C0-71CBCAC2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8D039-DCA3-41A7-9A6C-95AEBABF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322D"/>
                </a:solidFill>
              </a:defRPr>
            </a:pPr>
            <a:r>
              <a:rPr sz="2250" b="1">
                <a:solidFill>
                  <a:srgbClr val="A5322D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902FB-D9BE-4E94-8C75-E33BC8F9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APPLY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78313-8FBA-4929-897D-3AE61A5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4931"/>
                </a:solidFill>
              </a:defRPr>
            </a:pPr>
            <a:r>
              <a:rPr sz="1350" b="0">
                <a:solidFill>
                  <a:srgbClr val="6B4931"/>
                </a:solidFill>
              </a:rPr>
              <a:t>Use ICMP, routing and DNS commands in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CB8B7-C031-4A36-AE57-8AF98E27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D27FF-FDA9-4709-9031-955F7F31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322D"/>
                </a:solidFill>
              </a:defRPr>
            </a:pPr>
            <a:r>
              <a:rPr sz="2250" b="1">
                <a:solidFill>
                  <a:srgbClr val="A5322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4EA7C-00DC-4CB1-B7FD-84C2C805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COMMUNICATE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8188E-0BE7-4022-A105-42A35615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4931"/>
                </a:solidFill>
              </a:defRPr>
            </a:pPr>
            <a:r>
              <a:rPr sz="1350" b="0">
                <a:solidFill>
                  <a:srgbClr val="6B4931"/>
                </a:solidFill>
              </a:rPr>
              <a:t>Share partial evidence with a partner.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722D8-D7A0-4D00-83FC-B216ED03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73CA3-1009-45FA-B092-F7708D4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322D"/>
                </a:solidFill>
              </a:defRPr>
            </a:pPr>
            <a:r>
              <a:rPr sz="2250" b="1">
                <a:solidFill>
                  <a:srgbClr val="A5322D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0C8BE-4BF6-445F-B22C-D0535F44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UNLOCK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506A3-32DA-486D-B2FE-C6F61C0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4931"/>
                </a:solidFill>
              </a:defRPr>
            </a:pPr>
            <a:r>
              <a:rPr sz="1350" b="0">
                <a:solidFill>
                  <a:srgbClr val="6B4931"/>
                </a:solidFill>
              </a:rPr>
              <a:t>Complete both sides to open the gateway.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0E1F1-2CB9-4192-B269-75555953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B5C"/>
                </a:solidFill>
              </a:defRPr>
            </a:pPr>
            <a:r>
              <a:rPr sz="1650" b="1">
                <a:solidFill>
                  <a:srgbClr val="234B5C"/>
                </a:solidFill>
              </a:rPr>
              <a:t>Success = networking knowledge + synchronized teamwork.</a:t>
            </a:r>
          </a:p>
        </p:txBody>
      </p:sp>
    </p:spTree>
    <p:extLst>
      <p:ext uri="{BB962C8B-B14F-4D97-AF65-F5344CB8AC3E}">
        <p14:creationId xmlns:p14="http://schemas.microsoft.com/office/powerpoint/2010/main" val="1082181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2DA9F3-4FE7-4AAF-BA3C-6CD019A1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ABE48-7758-485E-8645-0C2F1E63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CASE FILE  /  03 / GAME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49857-13B2-4177-B488-6DC7641B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926"/>
                </a:solidFill>
              </a:defRPr>
            </a:pPr>
            <a:r>
              <a:rPr sz="2550" b="1">
                <a:solidFill>
                  <a:srgbClr val="2B2926"/>
                </a:solidFill>
              </a:rPr>
              <a:t>Every room follows the same loop: investigate, execute, reunite.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EEDC0-59B9-4FE1-86C2-3565A453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F14A6-C047-4A30-B514-296F7FD0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805A4-44E1-4564-A285-1FF1AC3F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BFB43-D0F4-4FDC-997F-972CEC12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194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5322D"/>
                </a:solidFill>
              </a:defRPr>
            </a:pPr>
            <a:r>
              <a:rPr sz="1275" b="1">
                <a:solidFill>
                  <a:srgbClr val="A5322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1ECE2-C97F-413A-AF42-DB39B499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67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926"/>
                </a:solidFill>
              </a:defRPr>
            </a:pPr>
            <a:r>
              <a:rPr sz="1050" b="1">
                <a:solidFill>
                  <a:srgbClr val="2B2926"/>
                </a:solidFill>
              </a:rPr>
              <a:t>EXPLORE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D2E8C-F12E-4075-8996-8AF39985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990850"/>
            <a:ext cx="1190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C7EC0-7749-45E4-A6BF-074F0A15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E894B-75CD-461B-9DEB-ECF4CC70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5322D"/>
                </a:solidFill>
              </a:defRPr>
            </a:pPr>
            <a:r>
              <a:rPr sz="1275" b="1">
                <a:solidFill>
                  <a:srgbClr val="A5322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60D3F-F14A-41E9-A66A-27B8C887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67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926"/>
                </a:solidFill>
              </a:defRPr>
            </a:pPr>
            <a:r>
              <a:rPr sz="1050" b="1">
                <a:solidFill>
                  <a:srgbClr val="2B2926"/>
                </a:solidFill>
              </a:rPr>
              <a:t>TERMINAL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5BBE5-9B96-4527-B3D2-6A1B7379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90850"/>
            <a:ext cx="1190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3A9A2-DF78-49B6-91C8-87A4376D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71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A7068-2193-4FAA-80FD-36580170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194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5322D"/>
                </a:solidFill>
              </a:defRPr>
            </a:pPr>
            <a:r>
              <a:rPr sz="1275" b="1">
                <a:solidFill>
                  <a:srgbClr val="A5322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7D9E9-CC9E-4AA9-BCE3-EE2912FE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67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926"/>
                </a:solidFill>
              </a:defRPr>
            </a:pPr>
            <a:r>
              <a:rPr sz="1050" b="1">
                <a:solidFill>
                  <a:srgbClr val="2B2926"/>
                </a:solidFill>
              </a:rPr>
              <a:t>COMMAND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1496D-FB0A-41BD-A796-397AB8B1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990850"/>
            <a:ext cx="1190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E2C0C-DBF3-495E-ADA9-36CB3E6C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0E89E-0708-4690-B9B0-3AD5B058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194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5322D"/>
                </a:solidFill>
              </a:defRPr>
            </a:pPr>
            <a:r>
              <a:rPr sz="1275" b="1">
                <a:solidFill>
                  <a:srgbClr val="A5322D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78D68-99B8-40F0-83F5-62DB098A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67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926"/>
                </a:solidFill>
              </a:defRPr>
            </a:pPr>
            <a:r>
              <a:rPr sz="1050" b="1">
                <a:solidFill>
                  <a:srgbClr val="2B2926"/>
                </a:solidFill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893BC-58C0-474F-A408-A7EE97CF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1190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F84B7-90FC-47B3-8CA7-06FF34E9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71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167DC-82B0-4D29-83CF-94B4A117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194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8"/>
                </a:solidFill>
              </a:defRPr>
            </a:pPr>
            <a:r>
              <a:rPr sz="1275" b="1">
                <a:solidFill>
                  <a:srgbClr val="FFFDF8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B7849-40CE-48B4-B557-54928695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2926"/>
                </a:solidFill>
              </a:defRPr>
            </a:pPr>
            <a:r>
              <a:rPr sz="1050" b="1">
                <a:solidFill>
                  <a:srgbClr val="2B2926"/>
                </a:solidFill>
              </a:rPr>
              <a:t>MEET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053CD-69E1-4099-B0E7-9695758C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B4931"/>
                </a:solidFill>
              </a:defRPr>
            </a:pPr>
            <a:r>
              <a:rPr sz="1725" b="0">
                <a:solidFill>
                  <a:srgbClr val="6B4931"/>
                </a:solidFill>
              </a:rPr>
              <a:t>Two players start unseen, complete the same technical objective from different rooms, then press E at the gateway together.</a:t>
            </a:r>
          </a:p>
        </p:txBody>
      </p:sp>
    </p:spTree>
    <p:extLst>
      <p:ext uri="{BB962C8B-B14F-4D97-AF65-F5344CB8AC3E}">
        <p14:creationId xmlns:p14="http://schemas.microsoft.com/office/powerpoint/2010/main" val="1939359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FCDAFD-7500-4231-AD9F-70DD47EB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CAAC9-1F06-4E9D-B3EE-250FC3F4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CASE FILE  /  04 / LEVEL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9A710-E816-4932-B03A-11BBC2FE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926"/>
                </a:solidFill>
              </a:defRPr>
            </a:pPr>
            <a:r>
              <a:rPr sz="2550" b="1">
                <a:solidFill>
                  <a:srgbClr val="2B2926"/>
                </a:solidFill>
              </a:rPr>
              <a:t>Three rooms turn core networking topics into escalating evidence puzzles.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42EC4-6755-4A7E-B2B3-2906C578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78A21-D9FC-48A3-BFEE-FB23F139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4DDD7-BAAC-43EE-959C-B851755C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5F39C-33C5-4C59-B1AF-A53FE786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5322D"/>
                </a:solidFill>
              </a:defRPr>
            </a:pPr>
            <a:r>
              <a:rPr sz="825" b="1">
                <a:solidFill>
                  <a:srgbClr val="A5322D"/>
                </a:solidFill>
              </a:rPr>
              <a:t>ROOM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74321-9D4A-4106-8DCB-64E23675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926"/>
                </a:solidFill>
              </a:defRPr>
            </a:pPr>
            <a:r>
              <a:rPr sz="1575" b="1">
                <a:solidFill>
                  <a:srgbClr val="2B2926"/>
                </a:solidFill>
              </a:rPr>
              <a:t>ICMP HANDSHAKE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EEFCA-CD00-45C4-BFC0-95E1BC2A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4B5C"/>
                </a:solidFill>
              </a:defRPr>
            </a:pPr>
            <a:r>
              <a:rPr sz="1200" b="0">
                <a:solidFill>
                  <a:srgbClr val="234B5C"/>
                </a:solidFill>
              </a:rPr>
              <a:t>ping 10.0.0.2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1CC5B-8DE6-4163-9F13-B8A7B79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4931"/>
                </a:solidFill>
              </a:defRPr>
            </a:pPr>
            <a:r>
              <a:rPr sz="1200" b="0">
                <a:solidFill>
                  <a:srgbClr val="6B4931"/>
                </a:solidFill>
              </a:rPr>
              <a:t>Can the peer answer?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710E2-2AE3-4137-96DA-80C4DC10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1C7FF-7BD2-4CDE-93EE-3ABB6B62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96F2C-1240-45DF-B2E4-8A518D4D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5322D"/>
                </a:solidFill>
              </a:defRPr>
            </a:pPr>
            <a:r>
              <a:rPr sz="825" b="1">
                <a:solidFill>
                  <a:srgbClr val="A5322D"/>
                </a:solidFill>
              </a:rPr>
              <a:t>ROOM 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5761B-A073-4BE8-B9E9-08ED2322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926"/>
                </a:solidFill>
              </a:defRPr>
            </a:pPr>
            <a:r>
              <a:rPr sz="1575" b="1">
                <a:solidFill>
                  <a:srgbClr val="2B2926"/>
                </a:solidFill>
              </a:rPr>
              <a:t>ROUTING BLACKHOLE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05F89-0213-4A6B-96AA-DD2A24C5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4B5C"/>
                </a:solidFill>
              </a:defRPr>
            </a:pPr>
            <a:r>
              <a:rPr sz="1200" b="0">
                <a:solidFill>
                  <a:srgbClr val="234B5C"/>
                </a:solidFill>
              </a:rPr>
              <a:t>traceroute 10.30.0.10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14762-79E1-44E5-914C-B47DE7EA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4931"/>
                </a:solidFill>
              </a:defRPr>
            </a:pPr>
            <a:r>
              <a:rPr sz="1200" b="0">
                <a:solidFill>
                  <a:srgbClr val="6B4931"/>
                </a:solidFill>
              </a:rPr>
              <a:t>Which hop breaks?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47E78-8281-4351-A841-5204C369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63104-304A-4210-8AF5-CCF2098B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A9839-0B80-42D2-B12D-64A8CA9B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5322D"/>
                </a:solidFill>
              </a:defRPr>
            </a:pPr>
            <a:r>
              <a:rPr sz="825" b="1">
                <a:solidFill>
                  <a:srgbClr val="A5322D"/>
                </a:solidFill>
              </a:rPr>
              <a:t>ROOM 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C1F8F-F722-4207-99E3-C740463B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482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926"/>
                </a:solidFill>
              </a:defRPr>
            </a:pPr>
            <a:r>
              <a:rPr sz="1575" b="1">
                <a:solidFill>
                  <a:srgbClr val="2B2926"/>
                </a:solidFill>
              </a:rPr>
              <a:t>DNS DISCOVERY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32EA14-3256-43C6-B712-0899C3A0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4B5C"/>
                </a:solidFill>
              </a:defRPr>
            </a:pPr>
            <a:r>
              <a:rPr sz="1200" b="0">
                <a:solidFill>
                  <a:srgbClr val="234B5C"/>
                </a:solidFill>
              </a:rPr>
              <a:t>nslookup gateway.lab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320689-C39F-4796-870A-DB1AAC05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482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4931"/>
                </a:solidFill>
              </a:defRPr>
            </a:pPr>
            <a:r>
              <a:rPr sz="1200" b="0">
                <a:solidFill>
                  <a:srgbClr val="6B4931"/>
                </a:solidFill>
              </a:rPr>
              <a:t>Where is the service?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834E7-6AA8-4287-ABD6-A49B8D90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10E21-1B75-4161-AF50-FC9F74DA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322D"/>
                </a:solidFill>
              </a:defRPr>
            </a:pPr>
            <a:r>
              <a:rPr sz="1350" b="1">
                <a:solidFill>
                  <a:srgbClr val="A5322D"/>
                </a:solidFill>
              </a:rPr>
              <a:t>Difficulty increases because the command is only one half of the answer; players must interpret and compare evidence.</a:t>
            </a:r>
          </a:p>
        </p:txBody>
      </p:sp>
    </p:spTree>
    <p:extLst>
      <p:ext uri="{BB962C8B-B14F-4D97-AF65-F5344CB8AC3E}">
        <p14:creationId xmlns:p14="http://schemas.microsoft.com/office/powerpoint/2010/main" val="522710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19DAF-8149-46AC-B86D-240A37DE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7160C-7FAF-4810-AB73-B230DADF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CASE FILE  /  05 / USER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6D095-5214-4FD4-B3A6-C3DBEBA2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926"/>
                </a:solidFill>
              </a:defRPr>
            </a:pPr>
            <a:r>
              <a:rPr sz="2550" b="1">
                <a:solidFill>
                  <a:srgbClr val="2B2926"/>
                </a:solidFill>
              </a:rPr>
              <a:t>The question appears only when the player discovers the terminal.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2CF74-899B-43BA-9075-B3A668D5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28329-62F5-4064-BFB9-D6BB75C4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80CF5-4CD7-40DD-BF93-A2F7828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5048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6D0BF-89AE-4425-BC13-C2107D7E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048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ACCF8-88AA-4644-8491-A9BA778D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A9B91"/>
                </a:solidFill>
              </a:defRPr>
            </a:pPr>
            <a:r>
              <a:rPr sz="1275" b="1">
                <a:solidFill>
                  <a:srgbClr val="6A9B91"/>
                </a:solidFill>
              </a:rPr>
              <a:t>WASD  MOVE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b870c5cc84e17"/>
          <a:stretch xmlns:a="http://schemas.openxmlformats.org/drawingml/2006/main"/>
        </p:blipFill>
        <p:spPr>
          <a:xfrm xmlns:a="http://schemas.openxmlformats.org/drawingml/2006/main">
            <a:off x="2476500" y="32385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ECACF-2D59-40F7-A9AC-5DADF636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95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3AB4E-FAF0-4AB0-9D73-5EAD1FA9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33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A9B91"/>
                </a:solidFill>
              </a:defRPr>
            </a:pPr>
            <a:r>
              <a:rPr sz="1500" b="0">
                <a:solidFill>
                  <a:srgbClr val="6A9B91"/>
                </a:solidFill>
              </a:rPr>
              <a:t>&gt;_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EB690-1966-4265-884B-DFCA5B68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9A4B"/>
                </a:solidFill>
              </a:defRPr>
            </a:pPr>
            <a:r>
              <a:rPr sz="1050" b="1">
                <a:solidFill>
                  <a:srgbClr val="C69A4B"/>
                </a:solidFill>
              </a:rPr>
              <a:t>E  INTERACT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59EFE-8DCF-4CC6-B3E9-7A44E673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A9B91"/>
                </a:solidFill>
              </a:defRPr>
            </a:pPr>
            <a:r>
              <a:rPr sz="1200" b="1">
                <a:solidFill>
                  <a:srgbClr val="6A9B91"/>
                </a:solidFill>
              </a:rPr>
              <a:t>TERMINAL // NETWORK CONSOLE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0F803-7471-435F-ACE8-1E402694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480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DF8"/>
                </a:solidFill>
              </a:defRPr>
            </a:pPr>
            <a:r>
              <a:rPr sz="1275" b="0">
                <a:solidFill>
                  <a:srgbClr val="FFFDF8"/>
                </a:solidFill>
              </a:rPr>
              <a:t>guest@node:~$ ping 10.0.0.2</a:t>
            </a:r>
          </a:p>
          <a:p xmlns:a="http://schemas.openxmlformats.org/drawingml/2006/main">
            <a:pPr algn="l">
              <a:defRPr sz="1275" b="0">
                <a:solidFill>
                  <a:srgbClr val="FFFDF8"/>
                </a:solidFill>
              </a:defRPr>
            </a:pPr>
            <a:r>
              <a:rPr sz="1275" b="0">
                <a:solidFill>
                  <a:srgbClr val="FFFDF8"/>
                </a:solidFill>
              </a:rPr>
              <a:t>[ OK ] PACKET SENT</a:t>
            </a:r>
          </a:p>
          <a:p xmlns:a="http://schemas.openxmlformats.org/drawingml/2006/main">
            <a:pPr algn="l">
              <a:defRPr sz="1275" b="0">
                <a:solidFill>
                  <a:srgbClr val="FFFDF8"/>
                </a:solidFill>
              </a:defRPr>
            </a:pPr>
            <a:r>
              <a:rPr sz="1275" b="0">
                <a:solidFill>
                  <a:srgbClr val="FFFDF8"/>
                </a:solidFill>
              </a:rPr>
              <a:t>waiting for partner...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36744-B850-41BA-BB82-CD524F37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4931"/>
                </a:solidFill>
              </a:defRPr>
            </a:pPr>
            <a:r>
              <a:rPr sz="1650" b="1">
                <a:solidFill>
                  <a:srgbClr val="6B4931"/>
                </a:solidFill>
              </a:rPr>
              <a:t>No static quiz wall. The player discovers the action in the world.</a:t>
            </a:r>
          </a:p>
        </p:txBody>
      </p:sp>
    </p:spTree>
    <p:extLst>
      <p:ext uri="{BB962C8B-B14F-4D97-AF65-F5344CB8AC3E}">
        <p14:creationId xmlns:p14="http://schemas.microsoft.com/office/powerpoint/2010/main" val="10286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10DF9-38DD-444A-A4F7-B5EC5F2F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79954-348E-4606-8793-355F7711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CASE FILE  /  06 /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31049-B9CF-448A-B3DD-735BB571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926"/>
                </a:solidFill>
              </a:defRPr>
            </a:pPr>
            <a:r>
              <a:rPr sz="2550" b="1">
                <a:solidFill>
                  <a:srgbClr val="2B2926"/>
                </a:solidFill>
              </a:rPr>
              <a:t>The server is authoritative: clients render the same shared truth.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E9291-82EA-4201-B701-89147285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90C91-FDDE-4BA0-B64D-DC39EBCF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8A8BD-B5EF-447D-8BDA-FD16D66C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238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8F9F4-E53C-4162-A1FD-F2494E06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926"/>
                </a:solidFill>
              </a:defRPr>
            </a:pPr>
            <a:r>
              <a:rPr sz="1650" b="1">
                <a:solidFill>
                  <a:srgbClr val="2B2926"/>
                </a:solidFill>
              </a:rPr>
              <a:t>PLAYER A</a:t>
            </a:r>
          </a:p>
          <a:p xmlns:a="http://schemas.openxmlformats.org/drawingml/2006/main">
            <a:pPr algn="ctr">
              <a:defRPr sz="1650" b="1">
                <a:solidFill>
                  <a:srgbClr val="2B2926"/>
                </a:solidFill>
              </a:defRPr>
            </a:pPr>
            <a:r>
              <a:rPr sz="1650" b="1">
                <a:solidFill>
                  <a:srgbClr val="2B2926"/>
                </a:solidFill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E5369-DEB3-4108-BEBA-D5DAF798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7B62D-E1BD-4E66-B453-CCD8BBF3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DF8"/>
                </a:solidFill>
              </a:defRPr>
            </a:pPr>
            <a:r>
              <a:rPr sz="1350" b="1">
                <a:solidFill>
                  <a:srgbClr val="FFFDF8"/>
                </a:solidFill>
              </a:rPr>
              <a:t>NODE.JS SERVER</a:t>
            </a:r>
          </a:p>
          <a:p xmlns:a="http://schemas.openxmlformats.org/drawingml/2006/main">
            <a:pPr algn="ctr">
              <a:defRPr sz="1350" b="1">
                <a:solidFill>
                  <a:srgbClr val="FFFDF8"/>
                </a:solidFill>
              </a:defRPr>
            </a:pPr>
            <a:r>
              <a:rPr sz="1350" b="1">
                <a:solidFill>
                  <a:srgbClr val="FFFDF8"/>
                </a:solidFill>
              </a:rPr>
              <a:t>EXPRESS + SOCKET.IO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8ABEE-244E-4305-B0E1-9D43EA9D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43250"/>
            <a:ext cx="2238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20213-0AF3-43F9-AE57-A796C725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766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926"/>
                </a:solidFill>
              </a:defRPr>
            </a:pPr>
            <a:r>
              <a:rPr sz="1650" b="1">
                <a:solidFill>
                  <a:srgbClr val="2B2926"/>
                </a:solidFill>
              </a:rPr>
              <a:t>PLAYER B</a:t>
            </a:r>
          </a:p>
          <a:p xmlns:a="http://schemas.openxmlformats.org/drawingml/2006/main">
            <a:pPr algn="ctr">
              <a:defRPr sz="1650" b="1">
                <a:solidFill>
                  <a:srgbClr val="2B2926"/>
                </a:solidFill>
              </a:defRPr>
            </a:pPr>
            <a:r>
              <a:rPr sz="1650" b="1">
                <a:solidFill>
                  <a:srgbClr val="2B2926"/>
                </a:solidFill>
              </a:rPr>
              <a:t>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EF8FB-5631-497B-943C-B732180F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6712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B3A81-D741-4DCF-9814-CCBA18F6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6712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A67C0-6719-4638-ACA8-475CF9B5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4B5C"/>
                </a:solidFill>
              </a:defRPr>
            </a:pPr>
            <a:r>
              <a:rPr sz="1350" b="1">
                <a:solidFill>
                  <a:srgbClr val="234B5C"/>
                </a:solidFill>
              </a:rPr>
              <a:t>WebSocket: movement, command result, door state, stage progression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94994-88D1-4B3E-9A90-A406F995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3340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69A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FE3D7-90DD-41A4-95C0-39DFEE06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48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4931"/>
                </a:solidFill>
              </a:defRPr>
            </a:pPr>
            <a:r>
              <a:rPr sz="975" b="0">
                <a:solidFill>
                  <a:srgbClr val="6B4931"/>
                </a:solidFill>
              </a:rPr>
              <a:t>PostgreSQL</a:t>
            </a:r>
          </a:p>
          <a:p xmlns:a="http://schemas.openxmlformats.org/drawingml/2006/main">
            <a:pPr algn="ctr">
              <a:defRPr sz="975" b="0">
                <a:solidFill>
                  <a:srgbClr val="6B4931"/>
                </a:solidFill>
              </a:defRPr>
            </a:pPr>
            <a:r>
              <a:rPr sz="975" b="0">
                <a:solidFill>
                  <a:srgbClr val="6B4931"/>
                </a:solidFill>
              </a:rPr>
              <a:t>via Prisma (optional)</a:t>
            </a:r>
          </a:p>
        </p:txBody>
      </p:sp>
    </p:spTree>
    <p:extLst>
      <p:ext uri="{BB962C8B-B14F-4D97-AF65-F5344CB8AC3E}">
        <p14:creationId xmlns:p14="http://schemas.microsoft.com/office/powerpoint/2010/main" val="2133992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336E4-DF08-40B4-BA75-81C0C9E1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5F1C3-B7DE-41BE-A4D5-2B8BCA39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CASE FILE  /  07 /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FFF2B-0BB0-4806-BD3E-3999D7A3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926"/>
                </a:solidFill>
              </a:defRPr>
            </a:pPr>
            <a:r>
              <a:rPr sz="2550" b="1">
                <a:solidFill>
                  <a:srgbClr val="2B2926"/>
                </a:solidFill>
              </a:rPr>
              <a:t>One command becomes a shared event, not a local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7D54D-00C0-453F-85C0-1D9A8AB6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00663-6175-46D5-8749-5AF32026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D9016-42C2-4EDB-BB29-E74B6A7D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5322D"/>
                </a:solidFill>
              </a:defRPr>
            </a:pPr>
            <a:r>
              <a:rPr sz="1125" b="1">
                <a:solidFill>
                  <a:srgbClr val="A5322D"/>
                </a:solidFill>
              </a:rPr>
              <a:t>PLAYER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8944A-5A6C-4465-B0CA-0027A75E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90750"/>
            <a:ext cx="285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EE4DF-FA20-463D-85CC-4BC23ABE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5322D"/>
                </a:solidFill>
              </a:defRPr>
            </a:pPr>
            <a:r>
              <a:rPr sz="1125" b="1">
                <a:solidFill>
                  <a:srgbClr val="A5322D"/>
                </a:solidFill>
              </a:rPr>
              <a:t>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D70B3-8A4B-4A54-9B5B-0D408256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285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5E3CE-217F-40A8-A790-C9B378D2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5322D"/>
                </a:solidFill>
              </a:defRPr>
            </a:pPr>
            <a:r>
              <a:rPr sz="1125" b="1">
                <a:solidFill>
                  <a:srgbClr val="A5322D"/>
                </a:solidFill>
              </a:rPr>
              <a:t>PLAYER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3A4B0-1CA1-48F6-B385-DDDB8C05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285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B132F-A529-415C-8B77-01DADDE3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5322D"/>
                </a:solidFill>
              </a:defRPr>
            </a:pPr>
            <a:r>
              <a:rPr sz="1125" b="1">
                <a:solidFill>
                  <a:srgbClr val="A5322D"/>
                </a:solidFill>
              </a:rPr>
              <a:t>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99900-2864-4397-AB84-80AF2360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90750"/>
            <a:ext cx="285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EC767-7FF0-4D19-AE2E-6D8F3C45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43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B2926"/>
                </a:solidFill>
              </a:defRPr>
            </a:pPr>
            <a:r>
              <a:rPr sz="1125" b="0">
                <a:solidFill>
                  <a:srgbClr val="2B2926"/>
                </a:solidFill>
              </a:rPr>
              <a:t>press E / type command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EDA1C-257E-4959-8488-520E0CF9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2382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2BE4A-DBD6-4D0C-AF46-DFB29825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95750"/>
            <a:ext cx="404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B2926"/>
                </a:solidFill>
              </a:defRPr>
            </a:pPr>
            <a:r>
              <a:rPr sz="1125" b="0">
                <a:solidFill>
                  <a:srgbClr val="2B2926"/>
                </a:solidFill>
              </a:rPr>
              <a:t>validate + record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6B504-3E92-4AB5-8E9D-3337056B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2619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D58CD-FCFB-4B69-8D57-38D8542F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0485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B2926"/>
                </a:solidFill>
              </a:defRPr>
            </a:pPr>
            <a:r>
              <a:rPr sz="1125" b="0">
                <a:solidFill>
                  <a:srgbClr val="2B2926"/>
                </a:solidFill>
              </a:rPr>
              <a:t>B repeats command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5395D-494C-4A1B-9A6C-9EC51E0D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1437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DF92C-C0B5-4A4F-BDA4-207B3E2E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95750"/>
            <a:ext cx="566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B2926"/>
                </a:solidFill>
              </a:defRPr>
            </a:pPr>
            <a:r>
              <a:rPr sz="1125" b="0">
                <a:solidFill>
                  <a:srgbClr val="2B2926"/>
                </a:solidFill>
              </a:rPr>
              <a:t>broadcast doorOpen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2E63B-DE3C-4437-BE6A-11F7EC91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91000"/>
            <a:ext cx="423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EB26B-AB9F-45A2-9EED-5D919186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B2926"/>
                </a:solidFill>
              </a:defRPr>
            </a:pPr>
            <a:r>
              <a:rPr sz="1125" b="0">
                <a:solidFill>
                  <a:srgbClr val="2B2926"/>
                </a:solidFill>
              </a:rPr>
              <a:t>both press E at gateway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0E2434-1300-4016-9ADE-AC9E41E8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238250"/>
            <a:ext cx="361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9316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50D73-5876-4FB1-AAF2-9B030251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259BB-7C01-4A8E-9A56-0B883F79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CASE FILE  /  08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C8491-444D-49A8-9DD9-11AEEFDE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926"/>
                </a:solidFill>
              </a:defRPr>
            </a:pPr>
            <a:r>
              <a:rPr sz="2550" b="1">
                <a:solidFill>
                  <a:srgbClr val="2B2926"/>
                </a:solidFill>
              </a:rPr>
              <a:t>HTTP delivers the game; WebSocket keeps the rooms alive.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9F114-4368-4AD3-8BBD-22770249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4EAE5-E1B4-4B73-A778-6D3DFC00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2B5F6-AC59-4829-A24A-FA06F2D6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7D7BE-1472-4162-9D97-5F59BD04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322D"/>
                </a:solidFill>
              </a:defRPr>
            </a:pPr>
            <a:r>
              <a:rPr sz="2250" b="1">
                <a:solidFill>
                  <a:srgbClr val="A5322D"/>
                </a:solidFill>
              </a:rPr>
              <a:t>HTTP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F6A21-3216-4411-889E-FE321DF1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926"/>
                </a:solidFill>
              </a:defRPr>
            </a:pPr>
            <a:r>
              <a:rPr sz="1500" b="1">
                <a:solidFill>
                  <a:srgbClr val="2B2926"/>
                </a:solidFill>
              </a:rPr>
              <a:t>Request →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E6CFB-8A79-4257-B911-F1962B8E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• Load HTML, CSS, JavaScript</a:t>
            </a:r>
          </a:p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• Health endpoint</a:t>
            </a:r>
          </a:p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• Static 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CB41C-BB69-4FB5-9EB6-4FCB30FE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762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2A27B-48DD-4E25-99A7-EAF60C59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A9B91"/>
                </a:solidFill>
              </a:defRPr>
            </a:pPr>
            <a:r>
              <a:rPr sz="1875" b="1">
                <a:solidFill>
                  <a:srgbClr val="6A9B91"/>
                </a:solidFill>
              </a:rPr>
              <a:t>WEBSOCKET / SOCKET.IO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30E72-145D-4DF5-975C-EE9A731D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DF8"/>
                </a:solidFill>
              </a:defRPr>
            </a:pPr>
            <a:r>
              <a:rPr sz="1500" b="1">
                <a:solidFill>
                  <a:srgbClr val="FFFDF8"/>
                </a:solidFill>
              </a:rPr>
              <a:t>A live bidirectional channel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6DAC8-58B5-40AB-AD49-01241BB0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361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movement  ↔  terminal result</a:t>
            </a:r>
          </a:p>
          <a:p xmlns:a="http://schemas.openxmlformats.org/drawingml/2006/main">
            <a:pPr algn="l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door state  ↔  stage progression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2818D-26B3-4538-80B2-B7665A17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4931"/>
                </a:solidFill>
              </a:defRPr>
            </a:pPr>
            <a:r>
              <a:rPr sz="1650" b="1">
                <a:solidFill>
                  <a:srgbClr val="6B4931"/>
                </a:solidFill>
              </a:rPr>
              <a:t>If the door changes, both screens must know immediately.</a:t>
            </a:r>
          </a:p>
        </p:txBody>
      </p:sp>
    </p:spTree>
    <p:extLst>
      <p:ext uri="{BB962C8B-B14F-4D97-AF65-F5344CB8AC3E}">
        <p14:creationId xmlns:p14="http://schemas.microsoft.com/office/powerpoint/2010/main" val="501968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F82A3-464D-4BB5-B16E-B60831A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2B9F6-A22F-4C49-AC50-A103451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CASE FILE  /  09 /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E39B1-64F8-46D1-A248-8F3C17B6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926"/>
                </a:solidFill>
              </a:defRPr>
            </a:pPr>
            <a:r>
              <a:rPr sz="2550" b="1">
                <a:solidFill>
                  <a:srgbClr val="2B2926"/>
                </a:solidFill>
              </a:rPr>
              <a:t>The demo is playable on a LAN; production needs a stronger perimeter.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A347C-D707-478B-B587-313C7303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688FB-5197-4552-8CD1-209F26BE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A91D5-DBEB-4754-9243-BBE8F5C0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5322D"/>
                </a:solidFill>
              </a:defRPr>
            </a:pPr>
            <a:r>
              <a:rPr sz="1800" b="1">
                <a:solidFill>
                  <a:srgbClr val="A5322D"/>
                </a:solidFill>
              </a:rPr>
              <a:t>Threats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60605-900B-4316-8238-91A330D1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931"/>
                </a:solidFill>
              </a:defRPr>
            </a:pPr>
            <a:r>
              <a:rPr sz="1350" b="1">
                <a:solidFill>
                  <a:srgbClr val="6B4931"/>
                </a:solidFill>
              </a:rPr>
              <a:t>SPOOF  /  SNIFF  /  FLOOD  /  TAMPER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94920-8117-45B9-832F-D98A0269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A9B91"/>
                </a:solidFill>
              </a:defRPr>
            </a:pPr>
            <a:r>
              <a:rPr sz="1800" b="1">
                <a:solidFill>
                  <a:srgbClr val="6A9B91"/>
                </a:solidFill>
              </a:rPr>
              <a:t>Current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24F3E-9932-41BB-A246-F719BEA7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• Server validates every command.</a:t>
            </a:r>
          </a:p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• Room is capped at two players.</a:t>
            </a:r>
          </a:p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• Input length and stage checks are enforced.</a:t>
            </a:r>
          </a:p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• Client never owns the score or gate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E2BC1-DA8E-45E2-897E-A6E5B207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19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4AE72-B514-485E-8EAD-026FA91D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PRODUCTION HARDENING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EC311-3B67-4DCE-BC00-F9B2D69A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926"/>
                </a:solidFill>
              </a:defRPr>
            </a:pPr>
            <a:r>
              <a:rPr sz="1200" b="0">
                <a:solidFill>
                  <a:srgbClr val="2B2926"/>
                </a:solidFill>
              </a:rPr>
              <a:t>HTTPS/WSS  ·  invite tokens  ·  rate limiting  ·  schema validation  ·  origin allowlist  ·  least-privilege database</a:t>
            </a:r>
          </a:p>
        </p:txBody>
      </p:sp>
    </p:spTree>
    <p:extLst>
      <p:ext uri="{BB962C8B-B14F-4D97-AF65-F5344CB8AC3E}">
        <p14:creationId xmlns:p14="http://schemas.microsoft.com/office/powerpoint/2010/main" val="1167293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34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831F0-4784-4C59-94C2-DA436D9E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24C7C-275A-4AC5-B05D-86866839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9A4B"/>
                </a:solidFill>
              </a:defRPr>
            </a:pPr>
            <a:r>
              <a:rPr sz="975" b="1">
                <a:solidFill>
                  <a:srgbClr val="C69A4B"/>
                </a:solidFill>
              </a:rPr>
              <a:t>FINAL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EAD0D-B04D-4984-972C-405A482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DF8"/>
                </a:solidFill>
              </a:defRPr>
            </a:pPr>
            <a:r>
              <a:rPr sz="3525" b="1">
                <a:solidFill>
                  <a:srgbClr val="FFFDF8"/>
                </a:solidFill>
              </a:rPr>
              <a:t>A network problem</a:t>
            </a:r>
          </a:p>
          <a:p xmlns:a="http://schemas.openxmlformats.org/drawingml/2006/main">
            <a:pPr algn="l">
              <a:defRPr sz="3525" b="1">
                <a:solidFill>
                  <a:srgbClr val="FFFDF8"/>
                </a:solidFill>
              </a:defRPr>
            </a:pPr>
            <a:r>
              <a:rPr sz="3525" b="1">
                <a:solidFill>
                  <a:srgbClr val="FFFDF8"/>
                </a:solidFill>
              </a:rPr>
              <a:t>becomes a shared mission.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4C0CC-0C0D-470D-A6B7-3F5CF110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8E7"/>
                </a:solidFill>
              </a:defRPr>
            </a:pPr>
            <a:r>
              <a:rPr sz="1725" b="0">
                <a:solidFill>
                  <a:srgbClr val="D9E8E7"/>
                </a:solidFill>
              </a:rPr>
              <a:t>The prototype connects networking knowledge, communication and action in one playable 2D loop.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f63ef124741bf"/>
          <a:stretch xmlns:a="http://schemas.openxmlformats.org/drawingml/2006/main"/>
        </p:blipFill>
        <p:spPr>
          <a:xfrm xmlns:a="http://schemas.openxmlformats.org/drawingml/2006/main">
            <a:off x="7239000" y="290512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4d0e4593843e7"/>
          <a:stretch xmlns:a="http://schemas.openxmlformats.org/drawingml/2006/main"/>
        </p:blipFill>
        <p:spPr>
          <a:xfrm xmlns:a="http://schemas.openxmlformats.org/drawingml/2006/main">
            <a:off x="9144000" y="290512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D99D9-592A-40B5-9C9F-9567CCD5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67000"/>
            <a:ext cx="666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C69A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BA8E2-4B83-4B50-9BBE-17B9C9C9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81375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69A4B"/>
                </a:solidFill>
              </a:defRPr>
            </a:pPr>
            <a:r>
              <a:rPr sz="900" b="1">
                <a:solidFill>
                  <a:srgbClr val="C69A4B"/>
                </a:solidFill>
              </a:rPr>
              <a:t>LINK</a:t>
            </a:r>
          </a:p>
          <a:p xmlns:a="http://schemas.openxmlformats.org/drawingml/2006/main">
            <a:pPr algn="ctr">
              <a:defRPr sz="900" b="1">
                <a:solidFill>
                  <a:srgbClr val="C69A4B"/>
                </a:solidFill>
              </a:defRPr>
            </a:pPr>
            <a:r>
              <a:rPr sz="900" b="1">
                <a:solidFill>
                  <a:srgbClr val="C69A4B"/>
                </a:solidFill>
              </a:rPr>
              <a:t>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E26D6-A4CE-4310-9547-81942D19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9A4B"/>
                </a:solidFill>
              </a:defRPr>
            </a:pPr>
            <a:r>
              <a:rPr sz="1050" b="0">
                <a:solidFill>
                  <a:srgbClr val="C69A4B"/>
                </a:solidFill>
              </a:rPr>
              <a:t>NEXT BUILD  /  richer maps  /  persistent sessions  /  real packet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E513A-7C1D-4934-BC02-456FEEB2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05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DF8"/>
                </a:solidFill>
              </a:defRPr>
            </a:pPr>
            <a:r>
              <a:rPr sz="975" b="0">
                <a:solidFill>
                  <a:srgbClr val="FFFDF8"/>
                </a:solidFill>
              </a:rPr>
              <a:t>GROUP [  ]  ·  MEMBERS [ ใส่ชื่อสมาชิก ]</a:t>
            </a:r>
          </a:p>
        </p:txBody>
      </p:sp>
    </p:spTree>
    <p:extLst>
      <p:ext uri="{BB962C8B-B14F-4D97-AF65-F5344CB8AC3E}">
        <p14:creationId xmlns:p14="http://schemas.microsoft.com/office/powerpoint/2010/main" val="1839762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2026-08-12T08:27:06.4050000Z</dcterms:created>
  <dcterms:modified xsi:type="dcterms:W3CDTF">2026-08-12T08:27:06.4050000Z</dcterms:modified>
</coreProperties>
</file>