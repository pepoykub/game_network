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1d6f68b514979" /><Relationship Type="http://schemas.openxmlformats.org/officeDocument/2006/relationships/extended-properties" Target="/docProps/app.xml" Id="Rcf5e6cb5f35d458b" /><Relationship Type="http://schemas.openxmlformats.org/officeDocument/2006/relationships/officeDocument" Target="/ppt/presentation.xml" Id="R6202f6c72bbd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ade31376244a2e"/>
  </p:sldMasterIdLst>
  <p:notesMasterIdLst>
    <p:notesMasterId xmlns:r="http://schemas.openxmlformats.org/officeDocument/2006/relationships" r:id="R0985a8d761194ee8"/>
  </p:notesMasterIdLst>
  <p:sldIdLst>
    <p:sldId xmlns:r="http://schemas.openxmlformats.org/officeDocument/2006/relationships" id="256" r:id="Rba7f4f8febad450f"/>
    <p:sldId xmlns:r="http://schemas.openxmlformats.org/officeDocument/2006/relationships" id="257" r:id="R16932f4ef5b24b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546d999db47dc" /><Relationship Type="http://schemas.openxmlformats.org/officeDocument/2006/relationships/slideMaster" Target="/ppt/slideMasters/slideMaster1.xml" Id="R3fade31376244a2e" /><Relationship Type="http://schemas.openxmlformats.org/officeDocument/2006/relationships/notesMaster" Target="/ppt/notesMasters/notesMaster1.xml" Id="R0985a8d761194ee8" /><Relationship Type="http://schemas.openxmlformats.org/officeDocument/2006/relationships/presProps" Target="/ppt/presProps.xml" Id="R91b0c47907ce4473" /><Relationship Type="http://schemas.openxmlformats.org/officeDocument/2006/relationships/tableStyles" Target="/ppt/tableStyles.xml" Id="Re0ef476719fa4980" /><Relationship Type="http://schemas.openxmlformats.org/officeDocument/2006/relationships/slide" Target="/ppt/slides/slide1.xml" Id="Rba7f4f8febad450f" /><Relationship Type="http://schemas.openxmlformats.org/officeDocument/2006/relationships/slide" Target="/ppt/slides/slide2.xml" Id="R16932f4ef5b2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2ac4d05f1b44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0b60f3aa54d8c" /><Relationship Type="http://schemas.openxmlformats.org/officeDocument/2006/relationships/notesMaster" Target="/ppt/notesMasters/notesMaster1.xml" Id="R35f7160b7f62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925552a414ed4" /><Relationship Type="http://schemas.openxmlformats.org/officeDocument/2006/relationships/notesMaster" Target="/ppt/notesMasters/notesMaster1.xml" Id="R7b8a70a6ccfa48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Borrego, C. et al. (2017). Room escape at class: Escape games activities to facilitate motivation and learning in computer science.</a:t>
            </a:r>
          </a:p>
          <a:p xmlns:a="http://schemas.openxmlformats.org/drawingml/2006/main">
            <a:r>
              <a:t>Canva visual reference: https://www.canva.com/design/DAHSD8Cw5gA/2Iw2DNIp0aT7Tpd2Gez0_Q/edit</a:t>
            </a:r>
          </a:p>
          <a:p xmlns:a="http://schemas.openxmlformats.org/drawingml/2006/main">
            <a:r>
              <a:t>Project character assets: D:/My_All_proj/Game_Network/public/assets/character-left.png; character-right.png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Impact of a Digital Escape Room Focused on HTML and Computer Networks on Vocational High School Students. Education Sciences, 12(10), 682 (2022).</a:t>
            </a:r>
          </a:p>
          <a:p xmlns:a="http://schemas.openxmlformats.org/drawingml/2006/main">
            <a:r>
              <a:t>Canva visual reference: https://www.canva.com/design/DAHSD8Cw5gA/2Iw2DNIp0aT7Tpd2Gez0_Q/edit</a:t>
            </a:r>
          </a:p>
          <a:p xmlns:a="http://schemas.openxmlformats.org/drawingml/2006/main">
            <a:r>
              <a:t>Project character assets: D:/My_All_proj/Game_Network/public/assets/character-left.png; character-right.png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aa07824bf40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daecd41134193" /><Relationship Type="http://schemas.openxmlformats.org/officeDocument/2006/relationships/slideLayout" Target="/ppt/slideLayouts/slideLayout1.xml" Id="R1e3c9b890347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c9b890347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4ea96b7394358" /><Relationship Type="http://schemas.openxmlformats.org/officeDocument/2006/relationships/image" Target="/ppt/media/image.png" Id="R85a5d0aff0104bc6" /><Relationship Type="http://schemas.openxmlformats.org/officeDocument/2006/relationships/image" Target="/ppt/media/image2.png" Id="R3939bc2c8c494b1e" /><Relationship Type="http://schemas.openxmlformats.org/officeDocument/2006/relationships/notesSlide" Target="/ppt/notesSlides/notesSlide1.xml" Id="R3f4b153babe1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a4b470a2b4370" /><Relationship Type="http://schemas.openxmlformats.org/officeDocument/2006/relationships/notesSlide" Target="/ppt/notesSlides/notesSlide2.xml" Id="R7670b5878add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F8C52-0BD2-4A8B-AC42-DD1FF44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7E067-C02A-43D8-B945-A987ACE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04 / PRECEDENT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25317-D5A4-488A-8920-F12E6F5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Room escape can turn real network knowledge into the puzzle.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936A1-20BB-4FCF-859B-1DA6AC6F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790C8-698A-49D5-85E4-032016F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A8F0F-11B4-4DF4-8111-670C9B0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5322D"/>
                </a:solidFill>
              </a:defRPr>
            </a:pPr>
            <a:r>
              <a:rPr sz="2025" b="1">
                <a:solidFill>
                  <a:srgbClr val="A5322D"/>
                </a:solidFill>
              </a:rPr>
              <a:t>Room Escape at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6B1B1-B859-4854-8C3C-98720A8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B4931"/>
                </a:solidFill>
              </a:defRPr>
            </a:pPr>
            <a:r>
              <a:rPr sz="1500" b="1">
                <a:solidFill>
                  <a:srgbClr val="6B4931"/>
                </a:solidFill>
              </a:rPr>
              <a:t>Escape games เพื่อการเรียนรู้ Computer Networks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C14ED-2215-418D-8DA8-24F1B7F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286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5DCB5-CCC8-4C23-98F1-87EEA6A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5C"/>
                </a:solidFill>
              </a:defRPr>
            </a:pPr>
            <a:r>
              <a:rPr sz="1125" b="1">
                <a:solidFill>
                  <a:srgbClr val="234B5C"/>
                </a:solidFill>
              </a:rPr>
              <a:t>UNIVERSITAT AUTÒNOMA</a:t>
            </a:r>
          </a:p>
          <a:p xmlns:a="http://schemas.openxmlformats.org/drawingml/2006/main">
            <a:pPr algn="l">
              <a:defRPr sz="1125" b="1">
                <a:solidFill>
                  <a:srgbClr val="234B5C"/>
                </a:solidFill>
              </a:defRPr>
            </a:pPr>
            <a:r>
              <a:rPr sz="1125" b="1">
                <a:solidFill>
                  <a:srgbClr val="234B5C"/>
                </a:solidFill>
              </a:rPr>
              <a:t>DE BARCELONA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F3610-E4AD-4539-A184-168E6172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926"/>
                </a:solidFill>
              </a:defRPr>
            </a:pPr>
            <a:r>
              <a:rPr sz="1500" b="0">
                <a:solidFill>
                  <a:srgbClr val="2B2926"/>
                </a:solidFill>
              </a:rPr>
              <a:t>ผู้เรียนต้องสร้าง IP packet และส่ง</a:t>
            </a:r>
          </a:p>
          <a:p xmlns:a="http://schemas.openxmlformats.org/drawingml/2006/main">
            <a:pPr algn="l">
              <a:defRPr sz="1500" b="0">
                <a:solidFill>
                  <a:srgbClr val="2B2926"/>
                </a:solidFill>
              </a:defRPr>
            </a:pPr>
            <a:r>
              <a:rPr sz="1500" b="0">
                <a:solidFill>
                  <a:srgbClr val="2B2926"/>
                </a:solidFill>
              </a:rPr>
              <a:t>compressed email ด้วย LZ77</a:t>
            </a:r>
          </a:p>
          <a:p xmlns:a="http://schemas.openxmlformats.org/drawingml/2006/main">
            <a:pPr algn="l">
              <a:defRPr sz="1500" b="0">
                <a:solidFill>
                  <a:srgbClr val="2B2926"/>
                </a:solidFill>
              </a:defRPr>
            </a:pPr>
            <a:r>
              <a:rPr sz="1500" b="0">
                <a:solidFill>
                  <a:srgbClr val="2B2926"/>
                </a:solidFill>
              </a:rPr>
              <a:t>เพื่อไขปริศนาในห้อง escape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D8FC5-E174-44F0-9F86-22A7A0B9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BAC78-10C1-4A89-B5C0-8BD7DCCE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A9B91"/>
                </a:solidFill>
              </a:defRPr>
            </a:pPr>
            <a:r>
              <a:rPr sz="825" b="1">
                <a:solidFill>
                  <a:srgbClr val="6A9B91"/>
                </a:solidFill>
              </a:rPr>
              <a:t>จุดเด่น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D2F34-F23F-40F6-953C-6F11A55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14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ใช้เนื้อหาวิชาจริงเป็นกลไกเกม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6106F-9ED0-4BF2-B718-DB7CAE2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F64A8-91BD-4490-BBA1-B9C1B53B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ข้อจำกัด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1398E-F82E-44BC-8881-304FEDF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926"/>
                </a:solidFill>
              </a:defRPr>
            </a:pPr>
            <a:r>
              <a:rPr sz="1275" b="0">
                <a:solidFill>
                  <a:srgbClr val="2B2926"/>
                </a:solidFill>
              </a:rPr>
              <a:t>ทุกคนเห็นข้อมูลร่วมกัน ไม่มี role / information asymmetry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0818B-AD27-48F0-BA5E-668FD87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31244-D347-444D-B3BD-41AB942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9075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701B4-710F-40E6-9CF1-D1E6DA78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322D"/>
                </a:solidFill>
              </a:defRPr>
            </a:pPr>
            <a:r>
              <a:rPr sz="975" b="1">
                <a:solidFill>
                  <a:srgbClr val="A5322D"/>
                </a:solidFill>
              </a:rPr>
              <a:t>CASE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202B6-0DF7-4B7A-BB12-ED04FEF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9979F-4E9F-40E6-9DBB-97BCB9D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A9B91"/>
                </a:solidFill>
              </a:defRPr>
            </a:pPr>
            <a:r>
              <a:rPr sz="1350" b="1">
                <a:solidFill>
                  <a:srgbClr val="6A9B91"/>
                </a:solidFill>
              </a:rPr>
              <a:t>IP PACKET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AB052-3E06-4695-AEF7-57FDDAA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6F18F-5E72-4A3D-BBB8-27373C58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4931"/>
                </a:solidFill>
              </a:defRPr>
            </a:pPr>
            <a:r>
              <a:rPr sz="1350" b="1">
                <a:solidFill>
                  <a:srgbClr val="6B4931"/>
                </a:solidFill>
              </a:rPr>
              <a:t>LZ77 EMAIL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5d0aff0104bc6"/>
          <a:stretch xmlns:a="http://schemas.openxmlformats.org/drawingml/2006/main"/>
        </p:blipFill>
        <p:spPr>
          <a:xfrm xmlns:a="http://schemas.openxmlformats.org/drawingml/2006/main">
            <a:off x="7858125" y="428625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9bc2c8c494b1e"/>
          <a:stretch xmlns:a="http://schemas.openxmlformats.org/drawingml/2006/main"/>
        </p:blipFill>
        <p:spPr>
          <a:xfrm xmlns:a="http://schemas.openxmlformats.org/drawingml/2006/main">
            <a:off x="10048875" y="42862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6D533-DCD9-40F8-BE75-9DC8AC6C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[2] Borrego et al. (2017)</a:t>
            </a:r>
          </a:p>
        </p:txBody>
      </p:sp>
    </p:spTree>
    <p:extLst>
      <p:ext uri="{BB962C8B-B14F-4D97-AF65-F5344CB8AC3E}">
        <p14:creationId xmlns:p14="http://schemas.microsoft.com/office/powerpoint/2010/main" val="1121721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826B8-B479-4BDE-8568-0C62628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71BEA-356C-4CB1-9588-9028EB8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05 / PRECEDENT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435A4-476C-4BCB-9652-3707E40D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Digital escape rooms improve engagement — but cooperation is still missing.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9784-780B-4C8D-92D0-C0CDDA15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D0A1-A23A-409B-9616-3F58CB1A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4C8F-D9B2-4B92-B7B0-8C26372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The Impact of a Digital Escape 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DDAAE-A811-46DE-ADF2-0483C4F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931"/>
                </a:solidFill>
              </a:defRPr>
            </a:pPr>
            <a:r>
              <a:rPr sz="1350" b="1">
                <a:solidFill>
                  <a:srgbClr val="6B4931"/>
                </a:solidFill>
              </a:rPr>
              <a:t>HTML + Computer Networks / Education Sciences (2022)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269B8-1242-42A8-89F5-42084FF3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57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E6B30-A681-449E-9673-F1F98BF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STUDY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1E6DC-2AAE-4BDE-8101-79D0ADD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4B5C"/>
                </a:solidFill>
              </a:defRPr>
            </a:pPr>
            <a:r>
              <a:rPr sz="2175" b="1">
                <a:solidFill>
                  <a:srgbClr val="234B5C"/>
                </a:solidFill>
              </a:rPr>
              <a:t>แรงจูงใจ  ↑</a:t>
            </a:r>
          </a:p>
          <a:p xmlns:a="http://schemas.openxmlformats.org/drawingml/2006/main">
            <a:pPr algn="l">
              <a:defRPr sz="2175" b="1">
                <a:solidFill>
                  <a:srgbClr val="234B5C"/>
                </a:solidFill>
              </a:defRPr>
            </a:pPr>
            <a:r>
              <a:rPr sz="2175" b="1">
                <a:solidFill>
                  <a:srgbClr val="234B5C"/>
                </a:solidFill>
              </a:rPr>
              <a:t>ความผูกพัน  ↑</a:t>
            </a:r>
          </a:p>
          <a:p xmlns:a="http://schemas.openxmlformats.org/drawingml/2006/main">
            <a:pPr algn="l">
              <a:defRPr sz="2175" b="1">
                <a:solidFill>
                  <a:srgbClr val="234B5C"/>
                </a:solidFill>
              </a:defRPr>
            </a:pPr>
            <a:r>
              <a:rPr sz="2175" b="1">
                <a:solidFill>
                  <a:srgbClr val="234B5C"/>
                </a:solidFill>
              </a:rPr>
              <a:t>ความพึงพอใจ  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50A17-D072-4AA6-A728-633A80C6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4931"/>
                </a:solidFill>
              </a:defRPr>
            </a:pPr>
            <a:r>
              <a:rPr sz="1200" b="0">
                <a:solidFill>
                  <a:srgbClr val="6B4931"/>
                </a:solidFill>
              </a:rPr>
              <a:t>ผลการศึกษาในนักเรียนอาชีวศึกษา</a:t>
            </a:r>
          </a:p>
          <a:p xmlns:a="http://schemas.openxmlformats.org/drawingml/2006/main">
            <a:pPr algn="l">
              <a:defRPr sz="1200" b="0">
                <a:solidFill>
                  <a:srgbClr val="6B4931"/>
                </a:solidFill>
              </a:defRPr>
            </a:pPr>
            <a:r>
              <a:rPr sz="1200" b="0">
                <a:solidFill>
                  <a:srgbClr val="6B4931"/>
                </a:solidFill>
              </a:rPr>
              <a:t>สายช่างเครือข่ายคอมพิวเตอร์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32F5C-B98C-4FA6-82A2-323822B3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8D6B4-A044-4E4B-BE04-FFAFF96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9B91"/>
                </a:solidFill>
              </a:defRPr>
            </a:pPr>
            <a:r>
              <a:rPr sz="1050" b="1">
                <a:solidFill>
                  <a:srgbClr val="6A9B91"/>
                </a:solidFill>
              </a:rPr>
              <a:t>RESEARCH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761F9-2D87-4291-9B6D-EEBCC65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</a:defRPr>
            </a:pPr>
            <a:r>
              <a:rPr sz="2250" b="1">
                <a:solidFill>
                  <a:srgbClr val="FFFDF8"/>
                </a:solidFill>
              </a:rPr>
              <a:t>single-player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24CCE-4DB1-4C8C-8B11-742D6B83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8"/>
                </a:solidFill>
              </a:defRPr>
            </a:pPr>
            <a:r>
              <a:rPr sz="1500" b="0">
                <a:solidFill>
                  <a:srgbClr val="FFFDF8"/>
                </a:solidFill>
              </a:rPr>
              <a:t>ไม่มีการสื่อสารหรือทำงานร่วมกัน</a:t>
            </a:r>
          </a:p>
          <a:p xmlns:a="http://schemas.openxmlformats.org/drawingml/2006/main">
            <a:pPr algn="l">
              <a:defRPr sz="1500" b="0">
                <a:solidFill>
                  <a:srgbClr val="FFFDF8"/>
                </a:solidFill>
              </a:defRPr>
            </a:pPr>
            <a:r>
              <a:rPr sz="1500" b="0">
                <a:solidFill>
                  <a:srgbClr val="FFFDF8"/>
                </a:solidFill>
              </a:rPr>
              <a:t>แบบ real-time ระหว่างผู้เล่น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4F056-3BE6-4147-AF40-7B199B3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9B21B-F849-411E-A8F5-2170807C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OUR EXTENSION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A1600-1ED4-4DF8-8549-25982506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007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เพิ่ม two-player information gap: แต่ละคนมีข้อมูลคนละส่วน และต้องคุยกันเพื่อผ่านด่าน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786CD-5139-4C59-B7F6-3011BB0E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4931"/>
                </a:solidFill>
              </a:defRPr>
            </a:pPr>
            <a:r>
              <a:rPr sz="825" b="0">
                <a:solidFill>
                  <a:srgbClr val="6B4931"/>
                </a:solidFill>
              </a:rPr>
              <a:t>[3] The Impact of a Digital Escape Room Focused on HTML and Computer Networks on Vocational High School Students. Education Sciences, 12(10), 682</a:t>
            </a:r>
          </a:p>
        </p:txBody>
      </p:sp>
    </p:spTree>
    <p:extLst>
      <p:ext uri="{BB962C8B-B14F-4D97-AF65-F5344CB8AC3E}">
        <p14:creationId xmlns:p14="http://schemas.microsoft.com/office/powerpoint/2010/main" val="2061816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2026-08-12T08:34:32.5850000Z</dcterms:created>
  <dcterms:modified xsi:type="dcterms:W3CDTF">2026-08-12T08:34:32.5850000Z</dcterms:modified>
</coreProperties>
</file>