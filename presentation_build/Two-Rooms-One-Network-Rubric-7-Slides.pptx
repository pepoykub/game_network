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ee37dea23b45db" /><Relationship Type="http://schemas.openxmlformats.org/officeDocument/2006/relationships/extended-properties" Target="/docProps/app.xml" Id="Rec1261a01b1343dc" /><Relationship Type="http://schemas.openxmlformats.org/officeDocument/2006/relationships/officeDocument" Target="/ppt/presentation.xml" Id="Rbda006e7bee341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862e547e1b4734"/>
  </p:sldMasterIdLst>
  <p:notesMasterIdLst>
    <p:notesMasterId xmlns:r="http://schemas.openxmlformats.org/officeDocument/2006/relationships" r:id="Rb8cddeb3c0724fcd"/>
  </p:notesMasterIdLst>
  <p:sldIdLst>
    <p:sldId xmlns:r="http://schemas.openxmlformats.org/officeDocument/2006/relationships" id="256" r:id="Rbdfaf91abfa6441c"/>
    <p:sldId xmlns:r="http://schemas.openxmlformats.org/officeDocument/2006/relationships" id="257" r:id="Rbd79870375384895"/>
    <p:sldId xmlns:r="http://schemas.openxmlformats.org/officeDocument/2006/relationships" id="258" r:id="R4964524440bf421d"/>
    <p:sldId xmlns:r="http://schemas.openxmlformats.org/officeDocument/2006/relationships" id="259" r:id="Rfa0f5186bbc2475e"/>
    <p:sldId xmlns:r="http://schemas.openxmlformats.org/officeDocument/2006/relationships" id="260" r:id="Rcc9dd0b96933450a"/>
    <p:sldId xmlns:r="http://schemas.openxmlformats.org/officeDocument/2006/relationships" id="261" r:id="R9aff582250a94884"/>
    <p:sldId xmlns:r="http://schemas.openxmlformats.org/officeDocument/2006/relationships" id="262" r:id="R41c8b41aba9f4d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94212daee1442a" /><Relationship Type="http://schemas.openxmlformats.org/officeDocument/2006/relationships/slideMaster" Target="/ppt/slideMasters/slideMaster1.xml" Id="Rd9862e547e1b4734" /><Relationship Type="http://schemas.openxmlformats.org/officeDocument/2006/relationships/notesMaster" Target="/ppt/notesMasters/notesMaster1.xml" Id="Rb8cddeb3c0724fcd" /><Relationship Type="http://schemas.openxmlformats.org/officeDocument/2006/relationships/presProps" Target="/ppt/presProps.xml" Id="R37da68c1f1004b30" /><Relationship Type="http://schemas.openxmlformats.org/officeDocument/2006/relationships/tableStyles" Target="/ppt/tableStyles.xml" Id="R276c9f5820804d3a" /><Relationship Type="http://schemas.openxmlformats.org/officeDocument/2006/relationships/slide" Target="/ppt/slides/slide1.xml" Id="Rbdfaf91abfa6441c" /><Relationship Type="http://schemas.openxmlformats.org/officeDocument/2006/relationships/slide" Target="/ppt/slides/slide2.xml" Id="Rbd79870375384895" /><Relationship Type="http://schemas.openxmlformats.org/officeDocument/2006/relationships/slide" Target="/ppt/slides/slide3.xml" Id="R4964524440bf421d" /><Relationship Type="http://schemas.openxmlformats.org/officeDocument/2006/relationships/slide" Target="/ppt/slides/slide4.xml" Id="Rfa0f5186bbc2475e" /><Relationship Type="http://schemas.openxmlformats.org/officeDocument/2006/relationships/slide" Target="/ppt/slides/slide5.xml" Id="Rcc9dd0b96933450a" /><Relationship Type="http://schemas.openxmlformats.org/officeDocument/2006/relationships/slide" Target="/ppt/slides/slide6.xml" Id="R9aff582250a94884" /><Relationship Type="http://schemas.openxmlformats.org/officeDocument/2006/relationships/slide" Target="/ppt/slides/slide7.xml" Id="R41c8b41aba9f4d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2758a3a58449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0a66b589f0445a" /><Relationship Type="http://schemas.openxmlformats.org/officeDocument/2006/relationships/notesMaster" Target="/ppt/notesMasters/notesMaster1.xml" Id="Rdb1188798d1147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bc825679a14119" /><Relationship Type="http://schemas.openxmlformats.org/officeDocument/2006/relationships/notesMaster" Target="/ppt/notesMasters/notesMaster1.xml" Id="R34ff48c5960d4b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a72c015b5a4f46" /><Relationship Type="http://schemas.openxmlformats.org/officeDocument/2006/relationships/notesMaster" Target="/ppt/notesMasters/notesMaster1.xml" Id="Reb85688548a947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a5203816bc4870" /><Relationship Type="http://schemas.openxmlformats.org/officeDocument/2006/relationships/notesMaster" Target="/ppt/notesMasters/notesMaster1.xml" Id="R8632d2a8c2874c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f39b943a124131" /><Relationship Type="http://schemas.openxmlformats.org/officeDocument/2006/relationships/notesMaster" Target="/ppt/notesMasters/notesMaster1.xml" Id="R24d12f8d93a944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8ce1853c94435d" /><Relationship Type="http://schemas.openxmlformats.org/officeDocument/2006/relationships/notesMaster" Target="/ppt/notesMasters/notesMaster1.xml" Id="Rc50209b646f34d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5c673cb65949e7" /><Relationship Type="http://schemas.openxmlformats.org/officeDocument/2006/relationships/notesMaster" Target="/ppt/notesMasters/notesMaster1.xml" Id="R5211de34d61243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Borrego, C. et al. (2017). Room escape at class: Escape games activities to facilitate motivation and learning in computer science.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[2] The Impact of a Digital Escape Room Focused on HTML and Computer Networks on Vocational High School Students. Education Sciences, 12(10), 682 (2022).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implementation: Phaser.js, Node.js/Express, Socket.IO, PostgreSQL/Prisma.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Comparison synthesized from [1] and [2], plus the project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prototype visuals use the supplied character sprites: public/assets/character-left.png and character-right.png.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 and implementation: public/game.js, public/index.html, public/styles.css. Architecture reference: Socket.IO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Borrego et al. (2017). [2] Education Sciences 12(10), 682 (2022). [3] Socket.IO docs. [4] Phaser docs. [5] Express docs. [6] Prisma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c80a3a4164a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d414d8b05d45ba" /><Relationship Type="http://schemas.openxmlformats.org/officeDocument/2006/relationships/slideLayout" Target="/ppt/slideLayouts/slideLayout1.xml" Id="R52af75a4994649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af75a4994649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8dbd3730640d3" /><Relationship Type="http://schemas.openxmlformats.org/officeDocument/2006/relationships/image" Target="/ppt/media/image.png" Id="R8079d0dfd20d45f8" /><Relationship Type="http://schemas.openxmlformats.org/officeDocument/2006/relationships/image" Target="/ppt/media/image2.png" Id="R37b2b9bdb25e44f7" /><Relationship Type="http://schemas.openxmlformats.org/officeDocument/2006/relationships/notesSlide" Target="/ppt/notesSlides/notesSlide1.xml" Id="R0ddac74db46044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fb282c62346b4" /><Relationship Type="http://schemas.openxmlformats.org/officeDocument/2006/relationships/notesSlide" Target="/ppt/notesSlides/notesSlide2.xml" Id="R5132ab2b985040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72dd43ad34e7e" /><Relationship Type="http://schemas.openxmlformats.org/officeDocument/2006/relationships/image" Target="/ppt/media/image3.png" Id="R8ee971df74204823" /><Relationship Type="http://schemas.openxmlformats.org/officeDocument/2006/relationships/image" Target="/ppt/media/image4.png" Id="R52e171e995304213" /><Relationship Type="http://schemas.openxmlformats.org/officeDocument/2006/relationships/notesSlide" Target="/ppt/notesSlides/notesSlide3.xml" Id="R06d765756d494a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5c9fc57b7489c" /><Relationship Type="http://schemas.openxmlformats.org/officeDocument/2006/relationships/notesSlide" Target="/ppt/notesSlides/notesSlide4.xml" Id="Rf291e166c2dc46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7b57b810248de" /><Relationship Type="http://schemas.openxmlformats.org/officeDocument/2006/relationships/image" Target="/ppt/media/image5.png" Id="R9c64165473404df7" /><Relationship Type="http://schemas.openxmlformats.org/officeDocument/2006/relationships/image" Target="/ppt/media/image6.png" Id="Rdc801a4bbf2a43c7" /><Relationship Type="http://schemas.openxmlformats.org/officeDocument/2006/relationships/notesSlide" Target="/ppt/notesSlides/notesSlide5.xml" Id="Rc33605a424694e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e1219f7dc42c9" /><Relationship Type="http://schemas.openxmlformats.org/officeDocument/2006/relationships/image" Target="/ppt/media/image7.png" Id="Rf4f19251d7e14b16" /><Relationship Type="http://schemas.openxmlformats.org/officeDocument/2006/relationships/notesSlide" Target="/ppt/notesSlides/notesSlide6.xml" Id="R35f634011bcd41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65a28a0e94c11" /><Relationship Type="http://schemas.openxmlformats.org/officeDocument/2006/relationships/notesSlide" Target="/ppt/notesSlides/notesSlide7.xml" Id="R9202ace4dc654d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D3EF8-D542-48F8-BDB0-B73FD2B1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82803-CB2B-4B4C-8F62-61411043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TWO ROOMS, ONE NETWORK  /  RELATED WORK #1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F2841-CB69-48EF-8C71-AC9DEE78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Room Escape at Class turns real network operations into puzzles.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4E8A3-8B00-4519-BE05-BB389D27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A19DD-65A7-4450-9A68-46ABD982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C9306-8783-4108-BC52-CC0C9DBE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5322D"/>
                </a:solidFill>
              </a:defRPr>
            </a:pPr>
            <a:r>
              <a:rPr sz="1800" b="1">
                <a:solidFill>
                  <a:srgbClr val="A5322D"/>
                </a:solidFill>
              </a:rPr>
              <a:t>What is it?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15EF5-5E0C-4565-92FA-6EAFF6E3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926"/>
                </a:solidFill>
              </a:defRPr>
            </a:pPr>
            <a:r>
              <a:rPr sz="1500" b="0">
                <a:solidFill>
                  <a:srgbClr val="2B2926"/>
                </a:solidFill>
              </a:rPr>
              <a:t>An educational escape-room activity for Computer Networks and Information Security students.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23193-838B-4F05-B02A-3F9EE536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4B5C"/>
                </a:solidFill>
              </a:defRPr>
            </a:pPr>
            <a:r>
              <a:rPr sz="1800" b="1">
                <a:solidFill>
                  <a:srgbClr val="234B5C"/>
                </a:solidFill>
              </a:rPr>
              <a:t>What can it do?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0A52F-36B8-4C0B-8588-41DAC72C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B2926"/>
                </a:solidFill>
              </a:defRPr>
            </a:pPr>
            <a:r>
              <a:rPr sz="1425" b="0">
                <a:solidFill>
                  <a:srgbClr val="2B2926"/>
                </a:solidFill>
              </a:rPr>
              <a:t>• Use IP-packet construction as a game mechanic</a:t>
            </a:r>
          </a:p>
          <a:p xmlns:a="http://schemas.openxmlformats.org/drawingml/2006/main">
            <a:pPr algn="l">
              <a:defRPr sz="1425" b="0">
                <a:solidFill>
                  <a:srgbClr val="2B2926"/>
                </a:solidFill>
              </a:defRPr>
            </a:pPr>
            <a:r>
              <a:rPr sz="1425" b="0">
                <a:solidFill>
                  <a:srgbClr val="2B2926"/>
                </a:solidFill>
              </a:rPr>
              <a:t>• Use LZ77-compressed email as a puzzle</a:t>
            </a:r>
          </a:p>
          <a:p xmlns:a="http://schemas.openxmlformats.org/drawingml/2006/main">
            <a:pPr algn="l">
              <a:defRPr sz="1425" b="0">
                <a:solidFill>
                  <a:srgbClr val="2B2926"/>
                </a:solidFill>
              </a:defRPr>
            </a:pPr>
            <a:r>
              <a:rPr sz="1425" b="0">
                <a:solidFill>
                  <a:srgbClr val="2B2926"/>
                </a:solidFill>
              </a:rPr>
              <a:t>• Make course knowledge operational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225D2-5DF9-4DB2-84D1-FCF902D5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3619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F1EB4-301B-4276-8BC7-3706DE2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DF8"/>
                </a:solidFill>
              </a:defRPr>
            </a:pPr>
            <a:r>
              <a:rPr sz="1875" b="1">
                <a:solidFill>
                  <a:srgbClr val="FFFDF8"/>
                </a:solidFill>
              </a:rPr>
              <a:t>ESCAPE ROOM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30DE1-917A-482A-BA1D-8CAB8A98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00375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EBDD"/>
          </a:solidFill>
          <a:ln xmlns:a="http://schemas.openxmlformats.org/drawingml/2006/main" w="19050">
            <a:solidFill>
              <a:srgbClr val="C69A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871B8-7C58-419F-8BD9-B69B3763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19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4B5C"/>
                </a:solidFill>
              </a:defRPr>
            </a:pPr>
            <a:r>
              <a:rPr sz="1500" b="1">
                <a:solidFill>
                  <a:srgbClr val="234B5C"/>
                </a:solidFill>
              </a:rPr>
              <a:t>IP PACKET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9d0dfd20d45f8"/>
          <a:stretch xmlns:a="http://schemas.openxmlformats.org/drawingml/2006/main"/>
        </p:blipFill>
        <p:spPr>
          <a:xfrm xmlns:a="http://schemas.openxmlformats.org/drawingml/2006/main">
            <a:off x="7239000" y="3952875"/>
            <a:ext cx="762000" cy="76200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2b9bdb25e44f7"/>
          <a:stretch xmlns:a="http://schemas.openxmlformats.org/drawingml/2006/main"/>
        </p:blipFill>
        <p:spPr>
          <a:xfrm xmlns:a="http://schemas.openxmlformats.org/drawingml/2006/main">
            <a:off x="9429750" y="395287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CDEF3-2978-42FB-8714-44CF532C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FAAED-BAB6-4E6B-B888-7C132B72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9115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5322D"/>
                </a:solidFill>
              </a:defRPr>
            </a:pPr>
            <a:r>
              <a:rPr sz="825" b="1">
                <a:solidFill>
                  <a:srgbClr val="A5322D"/>
                </a:solidFill>
              </a:rPr>
              <a:t>LIMITATION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3D203-C427-4915-B02C-11DB9966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3340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926"/>
                </a:solidFill>
              </a:defRPr>
            </a:pPr>
            <a:r>
              <a:rPr sz="1350" b="1">
                <a:solidFill>
                  <a:srgbClr val="2B2926"/>
                </a:solidFill>
              </a:rPr>
              <a:t>Everyone sees the same evidence; roles and information asymmetry are not separated between players.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FEA2F-38B6-4060-B420-6FF9EC7F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4931"/>
                </a:solidFill>
              </a:defRPr>
            </a:pPr>
            <a:r>
              <a:rPr sz="900" b="0">
                <a:solidFill>
                  <a:srgbClr val="6B4931"/>
                </a:solidFill>
              </a:rPr>
              <a:t>[1] Borrego et al. (2017)</a:t>
            </a:r>
          </a:p>
        </p:txBody>
      </p:sp>
    </p:spTree>
    <p:extLst>
      <p:ext uri="{BB962C8B-B14F-4D97-AF65-F5344CB8AC3E}">
        <p14:creationId xmlns:p14="http://schemas.microsoft.com/office/powerpoint/2010/main" val="18080166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44AF12-4B2C-41CA-B90F-E45963F0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2E011-A183-44F6-83F6-781104A7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TWO ROOMS, ONE NETWORK  /  RELATED WORK #2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A5706-5CD8-40D5-95D5-3EDDE36C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Digital escape rooms improve engagement in technical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1F115-47FE-406E-A0A3-54420F09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DB321-FE93-4EA2-86E3-CAAB4E80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B2B38-C08E-491F-B606-2DD4E73A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5322D"/>
                </a:solidFill>
              </a:defRPr>
            </a:pPr>
            <a:r>
              <a:rPr sz="1800" b="1">
                <a:solidFill>
                  <a:srgbClr val="A5322D"/>
                </a:solidFill>
              </a:rPr>
              <a:t>What is it?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BD3AB-C04D-4BE6-9851-CB0CC85C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926"/>
                </a:solidFill>
              </a:defRPr>
            </a:pPr>
            <a:r>
              <a:rPr sz="1500" b="0">
                <a:solidFill>
                  <a:srgbClr val="2B2926"/>
                </a:solidFill>
              </a:rPr>
              <a:t>A 2022 study of a digital escape room focused on HTML and Computer Networks for vocational high-school students.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67F07-4F23-4F11-85DC-6077CDB7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4B5C"/>
                </a:solidFill>
              </a:defRPr>
            </a:pPr>
            <a:r>
              <a:rPr sz="1800" b="1">
                <a:solidFill>
                  <a:srgbClr val="234B5C"/>
                </a:solidFill>
              </a:rPr>
              <a:t>Reported impact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92034-73B6-4BB5-B395-E364236F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926"/>
                </a:solidFill>
              </a:defRPr>
            </a:pPr>
            <a:r>
              <a:rPr sz="1350" b="1">
                <a:solidFill>
                  <a:srgbClr val="2B2926"/>
                </a:solidFill>
              </a:rPr>
              <a:t>MOTIVATION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E5E45-4727-4099-B0AE-88B84D71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5322D"/>
                </a:solidFill>
              </a:defRPr>
            </a:pPr>
            <a:r>
              <a:rPr sz="1875" b="1">
                <a:solidFill>
                  <a:srgbClr val="A5322D"/>
                </a:solidFill>
              </a:rPr>
              <a:t>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9C9A4-6AF4-4DE7-A583-6B53E378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576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4B5C"/>
                </a:solidFill>
              </a:defRPr>
            </a:pPr>
            <a:r>
              <a:rPr sz="1350" b="1">
                <a:solidFill>
                  <a:srgbClr val="234B5C"/>
                </a:solidFill>
              </a:rPr>
              <a:t>higher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BFCD5-598C-4020-8F16-44ADC57B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926"/>
                </a:solidFill>
              </a:defRPr>
            </a:pPr>
            <a:r>
              <a:rPr sz="1350" b="1">
                <a:solidFill>
                  <a:srgbClr val="2B2926"/>
                </a:solidFill>
              </a:rPr>
              <a:t>ENGAGEMENT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57970-C3CA-4AF8-AFD7-3D3A81D2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5322D"/>
                </a:solidFill>
              </a:defRPr>
            </a:pPr>
            <a:r>
              <a:rPr sz="1875" b="1">
                <a:solidFill>
                  <a:srgbClr val="A5322D"/>
                </a:solidFill>
              </a:rPr>
              <a:t>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89D09-E38A-41E1-AD17-87859247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4B5C"/>
                </a:solidFill>
              </a:defRPr>
            </a:pPr>
            <a:r>
              <a:rPr sz="1350" b="1">
                <a:solidFill>
                  <a:srgbClr val="234B5C"/>
                </a:solidFill>
              </a:rPr>
              <a:t>higher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E1620-9005-4AF3-A9E8-4B50B2E9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926"/>
                </a:solidFill>
              </a:defRPr>
            </a:pPr>
            <a:r>
              <a:rPr sz="1350" b="1">
                <a:solidFill>
                  <a:srgbClr val="2B2926"/>
                </a:solidFill>
              </a:rPr>
              <a:t>SATISFACTION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9AC88-4FEA-4EF7-8C60-385472F9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14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5322D"/>
                </a:solidFill>
              </a:defRPr>
            </a:pPr>
            <a:r>
              <a:rPr sz="1875" b="1">
                <a:solidFill>
                  <a:srgbClr val="A5322D"/>
                </a:solidFill>
              </a:rPr>
              <a:t>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0B6C2-A69B-438E-868C-3A8E85FB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14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4B5C"/>
                </a:solidFill>
              </a:defRPr>
            </a:pPr>
            <a:r>
              <a:rPr sz="1350" b="1">
                <a:solidFill>
                  <a:srgbClr val="234B5C"/>
                </a:solidFill>
              </a:rPr>
              <a:t>higher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0DC7A-A446-48CD-B168-954A16C0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16E"/>
          </a:solidFill>
          <a:ln xmlns:a="http://schemas.openxmlformats.org/drawingml/2006/main" w="19050">
            <a:solidFill>
              <a:srgbClr val="C69A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6766B-CC35-4C85-BCE9-730FC1FE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DF8"/>
                </a:solidFill>
              </a:defRPr>
            </a:pPr>
            <a:r>
              <a:rPr sz="2100" b="1">
                <a:solidFill>
                  <a:srgbClr val="FFFDF8"/>
                </a:solidFill>
              </a:rPr>
              <a:t>DIGITAL</a:t>
            </a:r>
          </a:p>
          <a:p xmlns:a="http://schemas.openxmlformats.org/drawingml/2006/main">
            <a:pPr algn="ctr">
              <a:defRPr sz="2100" b="1">
                <a:solidFill>
                  <a:srgbClr val="FFFDF8"/>
                </a:solidFill>
              </a:defRPr>
            </a:pPr>
            <a:r>
              <a:rPr sz="2100" b="1">
                <a:solidFill>
                  <a:srgbClr val="FFFDF8"/>
                </a:solidFill>
              </a:rPr>
              <a:t>ESCAPE ROOM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9DED4-E19D-419C-A6C4-370C0705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9A4B"/>
                </a:solidFill>
              </a:defRPr>
            </a:pPr>
            <a:r>
              <a:rPr sz="1350" b="1">
                <a:solidFill>
                  <a:srgbClr val="C69A4B"/>
                </a:solidFill>
              </a:rPr>
              <a:t>HTML  +  NETWORKS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9429E-706E-4176-9E9E-EC86BF9A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9F265-8405-4D25-B3B1-E7E49030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9115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5322D"/>
                </a:solidFill>
              </a:defRPr>
            </a:pPr>
            <a:r>
              <a:rPr sz="825" b="1">
                <a:solidFill>
                  <a:srgbClr val="A5322D"/>
                </a:solidFill>
              </a:rPr>
              <a:t>LIMITATION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52560-4478-49C4-8EEE-CF7C3DE3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3340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926"/>
                </a:solidFill>
              </a:defRPr>
            </a:pPr>
            <a:r>
              <a:rPr sz="1350" b="1">
                <a:solidFill>
                  <a:srgbClr val="2B2926"/>
                </a:solidFill>
              </a:rPr>
              <a:t>Single-player: no real-time communication, shared discovery, or coordination between two learners.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DBEDE-647F-4284-8B95-8517240B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4931"/>
                </a:solidFill>
              </a:defRPr>
            </a:pPr>
            <a:r>
              <a:rPr sz="900" b="0">
                <a:solidFill>
                  <a:srgbClr val="6B4931"/>
                </a:solidFill>
              </a:rPr>
              <a:t>[2] Education Sciences, 12(10), 682 (2022)</a:t>
            </a:r>
          </a:p>
        </p:txBody>
      </p:sp>
    </p:spTree>
    <p:extLst>
      <p:ext uri="{BB962C8B-B14F-4D97-AF65-F5344CB8AC3E}">
        <p14:creationId xmlns:p14="http://schemas.microsoft.com/office/powerpoint/2010/main" val="161759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E5609-CE98-490A-BC16-91813A7C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CB4B7-6E46-4CF5-9374-C7CB2654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TWO ROOMS, ONE NETWORK  /  OUR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5EF10-A01F-467E-9752-941522A3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Two Rooms, One Network is a 2D co-op networking escape 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EC25B-B531-43DD-8BA7-A58D833B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002F0-296E-43A9-9A0E-980A2753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A169F-C893-4D97-948A-2E3AB88C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4931"/>
                </a:solidFill>
              </a:defRPr>
            </a:pPr>
            <a:r>
              <a:rPr sz="1575" b="1">
                <a:solidFill>
                  <a:srgbClr val="6B4931"/>
                </a:solidFill>
              </a:rPr>
              <a:t>Two players are separated into different rooms and must reason together to open the gateway.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0FE5C-E13D-4C2D-916F-7AB52EAA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EFFCA-E5B2-4359-98EC-EC45FA35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479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5322D"/>
                </a:solidFill>
              </a:defRPr>
            </a:pPr>
            <a:r>
              <a:rPr sz="1425" b="1">
                <a:solidFill>
                  <a:srgbClr val="A5322D"/>
                </a:solidFill>
              </a:rPr>
              <a:t>WASD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FD33D-10A7-49E6-9236-30252E69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2926"/>
                </a:solidFill>
              </a:defRPr>
            </a:pPr>
            <a:r>
              <a:rPr sz="1200" b="0">
                <a:solidFill>
                  <a:srgbClr val="2B2926"/>
                </a:solidFill>
              </a:rPr>
              <a:t>explore the room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09519-5422-4CE8-9B2A-D8ECC7CD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04948-B121-440B-9164-7E665A7D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479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5322D"/>
                </a:solidFill>
              </a:defRPr>
            </a:pPr>
            <a:r>
              <a:rPr sz="1425" b="1">
                <a:solidFill>
                  <a:srgbClr val="A5322D"/>
                </a:solidFill>
              </a:rPr>
              <a:t>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AF74A-603E-4A4F-8639-728A993C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3372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2926"/>
                </a:solidFill>
              </a:defRPr>
            </a:pPr>
            <a:r>
              <a:rPr sz="1200" b="0">
                <a:solidFill>
                  <a:srgbClr val="2B2926"/>
                </a:solidFill>
              </a:rPr>
              <a:t>interact with a terminal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01499-99B2-4893-B88F-3CC49476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8EC40-6BF8-49FA-B73C-704B2F4C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957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5322D"/>
                </a:solidFill>
              </a:defRPr>
            </a:pPr>
            <a:r>
              <a:rPr sz="1425" b="1">
                <a:solidFill>
                  <a:srgbClr val="A5322D"/>
                </a:solidFill>
              </a:rPr>
              <a:t>CMD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A6855-05C7-4259-9073-E50E7760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2926"/>
                </a:solidFill>
              </a:defRPr>
            </a:pPr>
            <a:r>
              <a:rPr sz="1200" b="0">
                <a:solidFill>
                  <a:srgbClr val="2B2926"/>
                </a:solidFill>
              </a:rPr>
              <a:t>ping / traceroute / nslookup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8B0C3-0691-4939-9EE9-0E0DA347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89DA0-E8B8-4A4C-8BB4-09D55990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957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5322D"/>
                </a:solidFill>
              </a:defRPr>
            </a:pPr>
            <a:r>
              <a:rPr sz="1425" b="1">
                <a:solidFill>
                  <a:srgbClr val="A5322D"/>
                </a:solidFill>
              </a:rPr>
              <a:t>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1C7E1-5A40-4F22-961E-604F4CE6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81475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2926"/>
                </a:solidFill>
              </a:defRPr>
            </a:pPr>
            <a:r>
              <a:rPr sz="1200" b="0">
                <a:solidFill>
                  <a:srgbClr val="2B2926"/>
                </a:solidFill>
              </a:rPr>
              <a:t>validate commands and gate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2B62E-981C-4108-ACBD-2C3D7894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146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5322D"/>
                </a:solidFill>
              </a:defRPr>
            </a:pPr>
            <a:r>
              <a:rPr sz="1350" b="1">
                <a:solidFill>
                  <a:srgbClr val="A5322D"/>
                </a:solidFill>
              </a:rPr>
              <a:t>EXPLORE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75E48-2A9E-47F0-A912-1A1996B1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86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5322D"/>
                </a:solidFill>
              </a:defRPr>
            </a:pPr>
            <a:r>
              <a:rPr sz="1875" b="1">
                <a:solidFill>
                  <a:srgbClr val="A5322D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3FA8E-57DF-4132-B04F-EDE467ED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4B5C"/>
                </a:solidFill>
              </a:defRPr>
            </a:pPr>
            <a:r>
              <a:rPr sz="1350" b="1">
                <a:solidFill>
                  <a:srgbClr val="234B5C"/>
                </a:solidFill>
              </a:rPr>
              <a:t>TERMINAL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A8CFF-7FAF-43B4-9A5E-218F4558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5322D"/>
                </a:solidFill>
              </a:defRPr>
            </a:pPr>
            <a:r>
              <a:rPr sz="1875" b="1">
                <a:solidFill>
                  <a:srgbClr val="A5322D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381C6F-C4E2-4A59-800C-49495B9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623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4B5C"/>
                </a:solidFill>
              </a:defRPr>
            </a:pPr>
            <a:r>
              <a:rPr sz="1350" b="1">
                <a:solidFill>
                  <a:srgbClr val="234B5C"/>
                </a:solidFill>
              </a:rPr>
              <a:t>SERVER VALIDATES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7A520-4C6D-4103-A1BE-369252F2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5322D"/>
                </a:solidFill>
              </a:defRPr>
            </a:pPr>
            <a:r>
              <a:rPr sz="1875" b="1">
                <a:solidFill>
                  <a:srgbClr val="A5322D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3667A-5A52-4A8A-8B9B-E3775D7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623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5322D"/>
                </a:solidFill>
              </a:defRPr>
            </a:pPr>
            <a:r>
              <a:rPr sz="1350" b="1">
                <a:solidFill>
                  <a:srgbClr val="A5322D"/>
                </a:solidFill>
              </a:rPr>
              <a:t>GATE OPENS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971df74204823"/>
          <a:stretch xmlns:a="http://schemas.openxmlformats.org/drawingml/2006/main"/>
        </p:blipFill>
        <p:spPr>
          <a:xfrm xmlns:a="http://schemas.openxmlformats.org/drawingml/2006/main">
            <a:off x="7239000" y="4262438"/>
            <a:ext cx="714375" cy="714375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171e995304213"/>
          <a:stretch xmlns:a="http://schemas.openxmlformats.org/drawingml/2006/main"/>
        </p:blipFill>
        <p:spPr>
          <a:xfrm xmlns:a="http://schemas.openxmlformats.org/drawingml/2006/main">
            <a:off x="10001250" y="4262438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91C5B-CFB5-4B65-9A43-A7AD2402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B2926"/>
                </a:solidFill>
              </a:defRPr>
            </a:pPr>
            <a:r>
              <a:rPr sz="1425" b="1">
                <a:solidFill>
                  <a:srgbClr val="2B2926"/>
                </a:solidFill>
              </a:rPr>
              <a:t>The client renders the world; the server owns the answer, score, room state, and door state.</a:t>
            </a:r>
          </a:p>
        </p:txBody>
      </p:sp>
    </p:spTree>
    <p:extLst>
      <p:ext uri="{BB962C8B-B14F-4D97-AF65-F5344CB8AC3E}">
        <p14:creationId xmlns:p14="http://schemas.microsoft.com/office/powerpoint/2010/main" val="707044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B1668-6B60-440E-A908-D8580E44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83BCD-0C76-405C-904C-513CC102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TWO ROOMS, ONE NETWORK  /  OUR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C3EB2-C6B9-4C33-961C-EFB48B61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The project adds cooperation as part of the networking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A2482-2368-400D-9E7A-1DF39E0D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680AC-B30D-4154-83DE-91A56588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5A65D-963D-43F1-9F6E-FD44AB1E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34B5C"/>
                </a:solidFill>
              </a:defRPr>
            </a:pPr>
            <a:r>
              <a:rPr sz="1650" b="1">
                <a:solidFill>
                  <a:srgbClr val="234B5C"/>
                </a:solidFill>
              </a:rPr>
              <a:t>Previous digital escape rooms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29965-15C3-4878-92D7-D0ED0044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52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5322D"/>
                </a:solidFill>
              </a:defRPr>
            </a:pPr>
            <a:r>
              <a:rPr sz="1650" b="1">
                <a:solidFill>
                  <a:srgbClr val="A5322D"/>
                </a:solidFill>
              </a:rPr>
              <a:t>Our game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F39F5-4C00-4220-9C85-2BA7B7E9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D5FF3-5E67-4980-A1C8-3DD8F550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765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single-player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16E11-E1B0-4A44-9221-98F3320F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623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2727C-AC8F-4A3C-B2B2-5BE7C6AB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670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same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6EBA3-0D3F-49D0-876E-57888674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528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B2F94-18D0-4F5C-8AE9-F2F808CB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answer can be 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7E048-38DC-4BB3-B358-D51B0BE8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434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2389E-822E-47FB-BAC0-81B39140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481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engagement through puzzles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C2398-972B-47C5-873F-9724CF39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8CE58-488A-44A7-958A-9706D471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765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DF8"/>
                </a:solidFill>
              </a:defRPr>
            </a:pPr>
            <a:r>
              <a:rPr sz="1350" b="0">
                <a:solidFill>
                  <a:srgbClr val="FFFDF8"/>
                </a:solidFill>
              </a:rPr>
              <a:t>two-player real-time co-op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7C5A3-2783-40C0-A68A-17036B41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623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3D135-A0C5-4CC8-BA74-B91DE683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670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DF8"/>
                </a:solidFill>
              </a:defRPr>
            </a:pPr>
            <a:r>
              <a:rPr sz="1350" b="0">
                <a:solidFill>
                  <a:srgbClr val="FFFDF8"/>
                </a:solidFill>
              </a:rPr>
              <a:t>different rooms / partial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12B31-548D-4860-B3EA-E9DC3422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528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16F317-750D-42BD-B086-5CDA7929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576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DF8"/>
                </a:solidFill>
              </a:defRPr>
            </a:pPr>
            <a:r>
              <a:rPr sz="1350" b="0">
                <a:solidFill>
                  <a:srgbClr val="FFFDF8"/>
                </a:solidFill>
              </a:rPr>
              <a:t>ping must be understood by both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3BEA7-0066-420E-88AD-4ED5FF78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434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65D31F-D65C-425B-96AA-DB8BFB89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481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DF8"/>
                </a:solidFill>
              </a:defRPr>
            </a:pPr>
            <a:r>
              <a:rPr sz="1350" b="0">
                <a:solidFill>
                  <a:srgbClr val="FFFDF8"/>
                </a:solidFill>
              </a:rPr>
              <a:t>communication is required to progress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0C699-36A5-434C-A0AF-D2C3F7D2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5322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AEDC2-97E1-40E4-89AB-5E1A1830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861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5322D"/>
                </a:solidFill>
              </a:defRPr>
            </a:pPr>
            <a:r>
              <a:rPr sz="1125" b="1">
                <a:solidFill>
                  <a:srgbClr val="A5322D"/>
                </a:solidFill>
              </a:rPr>
              <a:t>EXTENSION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D598E4-BABA-48BE-BA70-424A0C6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B4931"/>
                </a:solidFill>
              </a:defRPr>
            </a:pPr>
            <a:r>
              <a:rPr sz="1500" b="1">
                <a:solidFill>
                  <a:srgbClr val="6B4931"/>
                </a:solidFill>
              </a:rPr>
              <a:t>Learning outcome: students must explain network evidence to another person, not only select an answer.</a:t>
            </a:r>
          </a:p>
        </p:txBody>
      </p:sp>
    </p:spTree>
    <p:extLst>
      <p:ext uri="{BB962C8B-B14F-4D97-AF65-F5344CB8AC3E}">
        <p14:creationId xmlns:p14="http://schemas.microsoft.com/office/powerpoint/2010/main" val="2003649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7AB50-0A57-4EF0-BA48-6F30847A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3B784-D534-4CB2-88BC-99554E6A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TWO ROOMS, ONE NETWORK  /  PROTOTYPE /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1DF7D-0092-4315-B1E5-4A8DA463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The question appears through exploration, not as a static quiz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B7179-185D-4537-916B-C2675FA3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1F6F9-2928-4905-A857-C06ECCF9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8640D-B320-4B54-BF49-E9A06680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239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026C0-6C5F-4063-9D5C-38A7D272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3333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5"/>
          </a:solidFill>
          <a:ln xmlns:a="http://schemas.openxmlformats.org/drawingml/2006/main" w="19050">
            <a:solidFill>
              <a:srgbClr val="234B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1DF2A-B2AD-4946-8DE5-8DB0D342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3333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140"/>
          </a:solidFill>
          <a:ln xmlns:a="http://schemas.openxmlformats.org/drawingml/2006/main" w="19050">
            <a:solidFill>
              <a:srgbClr val="5A41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4BD44-517D-4353-92CD-4D3BD71F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0" cy="30003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69A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84608-BDB0-40F1-BD19-7A84BB9A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A9B91"/>
                </a:solidFill>
              </a:defRPr>
            </a:pPr>
            <a:r>
              <a:rPr sz="1200" b="1">
                <a:solidFill>
                  <a:srgbClr val="6A9B91"/>
                </a:solidFill>
              </a:rPr>
              <a:t>ROOM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D6669-9E31-4456-895F-917D2062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A9E8"/>
                </a:solidFill>
              </a:defRPr>
            </a:pPr>
            <a:r>
              <a:rPr sz="1200" b="1">
                <a:solidFill>
                  <a:srgbClr val="D9A9E8"/>
                </a:solidFill>
              </a:rPr>
              <a:t>ROOM B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4165473404df7"/>
          <a:stretch xmlns:a="http://schemas.openxmlformats.org/drawingml/2006/main"/>
        </p:blipFill>
        <p:spPr>
          <a:xfrm xmlns:a="http://schemas.openxmlformats.org/drawingml/2006/main">
            <a:off x="2571750" y="3438525"/>
            <a:ext cx="742950" cy="74295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01a4bbf2a43c7"/>
          <a:stretch xmlns:a="http://schemas.openxmlformats.org/drawingml/2006/main"/>
        </p:blipFill>
        <p:spPr>
          <a:xfrm xmlns:a="http://schemas.openxmlformats.org/drawingml/2006/main">
            <a:off x="6334125" y="34385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25C52-B6A7-4607-B517-954C4B0B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109537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C69A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353F1-C48F-48C0-8745-3B978B45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69A4B"/>
                </a:solidFill>
              </a:defRPr>
            </a:pPr>
            <a:r>
              <a:rPr sz="900" b="1">
                <a:solidFill>
                  <a:srgbClr val="C69A4B"/>
                </a:solidFill>
              </a:rPr>
              <a:t>&gt;_  TERMINAL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59F7A-C41C-4CA7-8279-5A5E4D21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1095375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D9A9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C023A-EC31-473F-8FAD-CBFC91FC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6196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A9E8"/>
                </a:solidFill>
              </a:defRPr>
            </a:pPr>
            <a:r>
              <a:rPr sz="900" b="1">
                <a:solidFill>
                  <a:srgbClr val="D9A9E8"/>
                </a:solidFill>
              </a:rPr>
              <a:t>&gt;_  TERMINAL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DCC41-BB5B-47A7-85D6-25B4313F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A8F46-CAFA-441F-AC67-E0768016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5322D"/>
                </a:solidFill>
              </a:defRPr>
            </a:pPr>
            <a:r>
              <a:rPr sz="1500" b="1">
                <a:solidFill>
                  <a:srgbClr val="A5322D"/>
                </a:solidFill>
              </a:rPr>
              <a:t>UI callouts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B0F53-CFC0-4046-B615-50546A9C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219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1  WASD movement</a:t>
            </a:r>
          </a:p>
          <a:p xmlns:a="http://schemas.openxmlformats.org/drawingml/2006/main">
            <a:pPr algn="l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2  E interaction</a:t>
            </a:r>
          </a:p>
          <a:p xmlns:a="http://schemas.openxmlformats.org/drawingml/2006/main">
            <a:pPr algn="l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3  CMD terminal overlay</a:t>
            </a:r>
          </a:p>
          <a:p xmlns:a="http://schemas.openxmlformats.org/drawingml/2006/main">
            <a:pPr algn="l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4  Mission / gate status</a:t>
            </a:r>
          </a:p>
          <a:p xmlns:a="http://schemas.openxmlformats.org/drawingml/2006/main">
            <a:pPr algn="l">
              <a:defRPr sz="1350" b="0">
                <a:solidFill>
                  <a:srgbClr val="2B2926"/>
                </a:solidFill>
              </a:defRPr>
            </a:pPr>
            <a:r>
              <a:rPr sz="1350" b="0">
                <a:solidFill>
                  <a:srgbClr val="2B2926"/>
                </a:solidFill>
              </a:rPr>
              <a:t>5  Gateway to next room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0CE3D-03D3-4FE4-9C1E-8DED176C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B4931"/>
                </a:solidFill>
              </a:defRPr>
            </a:pPr>
            <a:r>
              <a:rPr sz="1425" b="1">
                <a:solidFill>
                  <a:srgbClr val="6B4931"/>
                </a:solidFill>
              </a:rPr>
              <a:t>A playable 2D scene with two rooms, terminal quests, and a shared gateway.</a:t>
            </a:r>
          </a:p>
        </p:txBody>
      </p:sp>
    </p:spTree>
    <p:extLst>
      <p:ext uri="{BB962C8B-B14F-4D97-AF65-F5344CB8AC3E}">
        <p14:creationId xmlns:p14="http://schemas.microsoft.com/office/powerpoint/2010/main" val="19368118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B97FD-82E3-4C60-AEDD-EFCFFEDA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EF988-FB4D-4A60-9776-6E8E6D30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TWO ROOMS, ONE NETWORK  /  PROOF OF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CA5A2-E2DF-4EB4-9242-695F0BD0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The application, source code, and co-op flow are testable.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FF0E9-02EB-45FE-B988-B7F07461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F1ED2-9FB1-4DF7-BEE4-82247343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19251d7e14b16"/>
          <a:stretch xmlns:a="http://schemas.openxmlformats.org/drawingml/2006/main"/>
        </p:blipFill>
        <p:spPr>
          <a:xfrm xmlns:a="http://schemas.openxmlformats.org/drawingml/2006/main">
            <a:off x="714375" y="1955602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C6779-125E-4EA7-B7CC-66848D30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52625"/>
            <a:ext cx="58102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17232A"/>
          </a:solidFill>
          <a:ln xmlns:a="http://schemas.openxmlformats.org/drawingml/2006/main" w="19050">
            <a:solidFill>
              <a:srgbClr val="6A9B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933BF-AFC7-4CFA-A56D-25DCBB0D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A9B91"/>
                </a:solidFill>
              </a:defRPr>
            </a:pPr>
            <a:r>
              <a:rPr sz="1350" b="1">
                <a:solidFill>
                  <a:srgbClr val="6A9B91"/>
                </a:solidFill>
              </a:rPr>
              <a:t>SERVER-AUTHORITATIVE 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963C6-16F8-40EB-9CAA-8FE2DABE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DF8"/>
                </a:solidFill>
              </a:defRPr>
            </a:pPr>
            <a:r>
              <a:rPr sz="1350" b="0">
                <a:solidFill>
                  <a:srgbClr val="FFFDF8"/>
                </a:solidFill>
              </a:rPr>
              <a:t>socket.on('ping-quest', ({ command }) =&gt; {</a:t>
            </a:r>
          </a:p>
          <a:p xmlns:a="http://schemas.openxmlformats.org/drawingml/2006/main">
            <a:pPr algn="l">
              <a:defRPr sz="1350" b="0">
                <a:solidFill>
                  <a:srgbClr val="FFFDF8"/>
                </a:solidFill>
              </a:defRPr>
            </a:pPr>
            <a:r>
              <a:rPr sz="1350" b="0">
                <a:solidFill>
                  <a:srgbClr val="FFFDF8"/>
                </a:solidFill>
              </a:rPr>
              <a:t>  const result = validateCommand(command);</a:t>
            </a:r>
          </a:p>
          <a:p xmlns:a="http://schemas.openxmlformats.org/drawingml/2006/main">
            <a:pPr algn="l">
              <a:defRPr sz="1350" b="0">
                <a:solidFill>
                  <a:srgbClr val="FFFDF8"/>
                </a:solidFill>
              </a:defRPr>
            </a:pPr>
            <a:r>
              <a:rPr sz="1350" b="0">
                <a:solidFill>
                  <a:srgbClr val="FFFDF8"/>
                </a:solidFill>
              </a:rPr>
              <a:t>  io.to(roomId).emit('quest-result', result);</a:t>
            </a:r>
          </a:p>
          <a:p xmlns:a="http://schemas.openxmlformats.org/drawingml/2006/main">
            <a:pPr algn="l">
              <a:defRPr sz="1350" b="0">
                <a:solidFill>
                  <a:srgbClr val="FFFDF8"/>
                </a:solidFill>
              </a:defRPr>
            </a:pPr>
            <a:r>
              <a:rPr sz="1350" b="0">
                <a:solidFill>
                  <a:srgbClr val="FFFDF8"/>
                </a:solidFill>
              </a:rPr>
              <a:t>  if (result.complete) io.to(roomId).emit('door-open');</a:t>
            </a:r>
          </a:p>
          <a:p xmlns:a="http://schemas.openxmlformats.org/drawingml/2006/main">
            <a:pPr algn="l">
              <a:defRPr sz="1350" b="0">
                <a:solidFill>
                  <a:srgbClr val="FFFDF8"/>
                </a:solidFill>
              </a:defRPr>
            </a:pPr>
            <a:r>
              <a:rPr sz="1350" b="0">
                <a:solidFill>
                  <a:srgbClr val="FFFDF8"/>
                </a:solidFill>
              </a:rPr>
              <a:t>});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7C4F5-144C-4C45-8184-800D08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A532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2811E-D0B6-40D0-ACAF-DB174987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TEST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1E9B7-F3D0-4DFE-9B65-E464DA9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9112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926"/>
                </a:solidFill>
              </a:defRPr>
            </a:pPr>
            <a:r>
              <a:rPr sz="1350" b="1">
                <a:solidFill>
                  <a:srgbClr val="2B2926"/>
                </a:solidFill>
              </a:rPr>
              <a:t>Two browsers join one room → players move independently → both reach terminals → valid ping is broadcast → gateway unlocks.</a:t>
            </a:r>
          </a:p>
        </p:txBody>
      </p:sp>
    </p:spTree>
    <p:extLst>
      <p:ext uri="{BB962C8B-B14F-4D97-AF65-F5344CB8AC3E}">
        <p14:creationId xmlns:p14="http://schemas.microsoft.com/office/powerpoint/2010/main" val="1924213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DD418-C370-4FF0-A82E-9DA18052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25FFD-C4F8-46CE-833A-D233B2F7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322D"/>
                </a:solidFill>
              </a:defRPr>
            </a:pPr>
            <a:r>
              <a:rPr sz="900" b="1">
                <a:solidFill>
                  <a:srgbClr val="A5322D"/>
                </a:solidFill>
              </a:rPr>
              <a:t>TWO ROOMS, ONE NETWORK  / 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8FD7D-C9D4-407A-8BE1-D07C95EB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B2926"/>
                </a:solidFill>
              </a:defRPr>
            </a:pPr>
            <a:r>
              <a:rPr sz="2325" b="1">
                <a:solidFill>
                  <a:srgbClr val="2B2926"/>
                </a:solidFill>
              </a:rPr>
              <a:t>References and technical foundations.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E21D1-D738-4F85-846C-04CB7FE6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5322D"/>
                </a:solidFill>
              </a:defRPr>
            </a:pPr>
            <a:r>
              <a:rPr sz="1200" b="1">
                <a:solidFill>
                  <a:srgbClr val="A5322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AE3D6-FFB0-44F3-94DB-578AD76D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B49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F7334-158E-49D4-B801-498B48B1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926"/>
                </a:solidFill>
              </a:defRPr>
            </a:pPr>
            <a:r>
              <a:rPr sz="1275" b="0">
                <a:solidFill>
                  <a:srgbClr val="2B2926"/>
                </a:solidFill>
              </a:rPr>
              <a:t>[1] Borrego, C. et al. (2017). Room escape at class: Escape games activities to facilitate motivation and learning in computer science.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AFD4E-434A-460A-A722-A3FFC7F2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926"/>
                </a:solidFill>
              </a:defRPr>
            </a:pPr>
            <a:r>
              <a:rPr sz="1275" b="0">
                <a:solidFill>
                  <a:srgbClr val="2B2926"/>
                </a:solidFill>
              </a:rPr>
              <a:t>[2] The Impact of a Digital Escape Room Focused on HTML and Computer Networks on Vocational High School Students. Education Sciences, 12(10), 682 (2022).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071E1-CA7D-4B99-B1A5-07FD00B4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4B5C"/>
                </a:solidFill>
              </a:defRPr>
            </a:pPr>
            <a:r>
              <a:rPr sz="1275" b="0">
                <a:solidFill>
                  <a:srgbClr val="234B5C"/>
                </a:solidFill>
              </a:rPr>
              <a:t>[3] Socket.IO Documentation. https://socket.io/docs/v4/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3D16E-EE36-4F08-A89C-D51B7D63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4B5C"/>
                </a:solidFill>
              </a:defRPr>
            </a:pPr>
            <a:r>
              <a:rPr sz="1275" b="0">
                <a:solidFill>
                  <a:srgbClr val="234B5C"/>
                </a:solidFill>
              </a:rPr>
              <a:t>[4] Phaser Documentation. https://phaser.io/learn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9517F-E156-4AC9-95F2-9729438C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4B5C"/>
                </a:solidFill>
              </a:defRPr>
            </a:pPr>
            <a:r>
              <a:rPr sz="1275" b="0">
                <a:solidFill>
                  <a:srgbClr val="234B5C"/>
                </a:solidFill>
              </a:rPr>
              <a:t>[5] Express.js Documentation. https://expressjs.com/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CA2E1-BF53-4244-8627-E6761B16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4B5C"/>
                </a:solidFill>
              </a:defRPr>
            </a:pPr>
            <a:r>
              <a:rPr sz="1275" b="0">
                <a:solidFill>
                  <a:srgbClr val="234B5C"/>
                </a:solidFill>
              </a:rPr>
              <a:t>[6] Prisma Documentation. https://www.prisma.io/docs/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1CF79-E403-4F46-ADED-1B768070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931"/>
                </a:solidFill>
              </a:defRPr>
            </a:pPr>
            <a:r>
              <a:rPr sz="1350" b="1">
                <a:solidFill>
                  <a:srgbClr val="6B4931"/>
                </a:solidFill>
              </a:rPr>
              <a:t>Member names / student IDs: 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914463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2026-08-12T08:57:39.4160000Z</dcterms:created>
  <dcterms:modified xsi:type="dcterms:W3CDTF">2026-08-12T08:57:39.4160000Z</dcterms:modified>
</coreProperties>
</file>