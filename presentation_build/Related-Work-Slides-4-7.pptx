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040e9c77eb403f" /><Relationship Type="http://schemas.openxmlformats.org/officeDocument/2006/relationships/extended-properties" Target="/docProps/app.xml" Id="Reb102d3f15df45f0" /><Relationship Type="http://schemas.openxmlformats.org/officeDocument/2006/relationships/officeDocument" Target="/ppt/presentation.xml" Id="Rbd412040c7af42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86c3e22fc349dc"/>
  </p:sldMasterIdLst>
  <p:notesMasterIdLst>
    <p:notesMasterId xmlns:r="http://schemas.openxmlformats.org/officeDocument/2006/relationships" r:id="Rc48062a35dc74493"/>
  </p:notesMasterIdLst>
  <p:sldIdLst>
    <p:sldId xmlns:r="http://schemas.openxmlformats.org/officeDocument/2006/relationships" id="256" r:id="R9bafa1229f0e4017"/>
    <p:sldId xmlns:r="http://schemas.openxmlformats.org/officeDocument/2006/relationships" id="257" r:id="R87e6565cbca745bf"/>
    <p:sldId xmlns:r="http://schemas.openxmlformats.org/officeDocument/2006/relationships" id="258" r:id="Rd7262f3445d34609"/>
    <p:sldId xmlns:r="http://schemas.openxmlformats.org/officeDocument/2006/relationships" id="259" r:id="R0920e59f565c4b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e82d99326e4491" /><Relationship Type="http://schemas.openxmlformats.org/officeDocument/2006/relationships/slideMaster" Target="/ppt/slideMasters/slideMaster1.xml" Id="Re686c3e22fc349dc" /><Relationship Type="http://schemas.openxmlformats.org/officeDocument/2006/relationships/notesMaster" Target="/ppt/notesMasters/notesMaster1.xml" Id="Rc48062a35dc74493" /><Relationship Type="http://schemas.openxmlformats.org/officeDocument/2006/relationships/presProps" Target="/ppt/presProps.xml" Id="R80fa05c7194d499b" /><Relationship Type="http://schemas.openxmlformats.org/officeDocument/2006/relationships/tableStyles" Target="/ppt/tableStyles.xml" Id="Rcde9b2e2345143ba" /><Relationship Type="http://schemas.openxmlformats.org/officeDocument/2006/relationships/slide" Target="/ppt/slides/slide1.xml" Id="R9bafa1229f0e4017" /><Relationship Type="http://schemas.openxmlformats.org/officeDocument/2006/relationships/slide" Target="/ppt/slides/slide2.xml" Id="R87e6565cbca745bf" /><Relationship Type="http://schemas.openxmlformats.org/officeDocument/2006/relationships/slide" Target="/ppt/slides/slide3.xml" Id="Rd7262f3445d34609" /><Relationship Type="http://schemas.openxmlformats.org/officeDocument/2006/relationships/slide" Target="/ppt/slides/slide4.xml" Id="R0920e59f565c4b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c506a04c994d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0367614e1547a8" /><Relationship Type="http://schemas.openxmlformats.org/officeDocument/2006/relationships/notesMaster" Target="/ppt/notesMasters/notesMaster1.xml" Id="R84feab5bbc0442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e230c609dd443c" /><Relationship Type="http://schemas.openxmlformats.org/officeDocument/2006/relationships/notesMaster" Target="/ppt/notesMasters/notesMaster1.xml" Id="R101d11d184d14c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99fd6e344f4205" /><Relationship Type="http://schemas.openxmlformats.org/officeDocument/2006/relationships/notesMaster" Target="/ppt/notesMasters/notesMaster1.xml" Id="R8860c8a4abc94e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60e96ec6d940a5" /><Relationship Type="http://schemas.openxmlformats.org/officeDocument/2006/relationships/notesMaster" Target="/ppt/notesMasters/notesMaster1.xml" Id="R0b55b518967d44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Borrego, C. et al. (2017). Room escape at class: Escape games activities to facilitate motivation and learning in computer science.</a:t>
            </a:r>
          </a:p>
          <a:p xmlns:a="http://schemas.openxmlformats.org/drawingml/2006/main">
            <a:r>
              <a:t>Canva reference: https://www.canva.com/design/DAHSD8Cw5gA/2Iw2DNIp0aT7Tpd2Gez0_Q/edit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Borrego, C. et al. (2017), activity design and limitations summarized from the user-provided reference.</a:t>
            </a:r>
          </a:p>
          <a:p xmlns:a="http://schemas.openxmlformats.org/drawingml/2006/main">
            <a:r>
              <a:t>Canva reference: https://www.canva.com/design/DAHSD8Cw5gA/2Iw2DNIp0aT7Tpd2Gez0_Q/edit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The Impact of a Digital Escape Room Focused on HTML and Computer Networks on Vocational High School Students. Education Sciences, 12(10), 682 (2022).</a:t>
            </a:r>
          </a:p>
          <a:p xmlns:a="http://schemas.openxmlformats.org/drawingml/2006/main">
            <a:r>
              <a:t>Canva reference: https://www.canva.com/design/DAHSD8Cw5gA/2Iw2DNIp0aT7Tpd2Gez0_Q/edit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The Impact of a Digital Escape Room Focused on HTML and Computer Networks on Vocational High School Students. Education Sciences, 12(10), 682 (2022).</a:t>
            </a:r>
          </a:p>
          <a:p xmlns:a="http://schemas.openxmlformats.org/drawingml/2006/main">
            <a:r>
              <a:t>Canva reference: https://www.canva.com/design/DAHSD8Cw5gA/2Iw2DNIp0aT7Tpd2Gez0_Q/edit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79341ef22f40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92556c763a4e55" /><Relationship Type="http://schemas.openxmlformats.org/officeDocument/2006/relationships/slideLayout" Target="/ppt/slideLayouts/slideLayout1.xml" Id="R9abaa7395a7143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baa7395a7143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aa368f99b4425" /><Relationship Type="http://schemas.openxmlformats.org/officeDocument/2006/relationships/image" Target="/ppt/media/image.png" Id="R59c77891c73a48ac" /><Relationship Type="http://schemas.openxmlformats.org/officeDocument/2006/relationships/image" Target="/ppt/media/image2.png" Id="R26ebc879cdad4cb7" /><Relationship Type="http://schemas.openxmlformats.org/officeDocument/2006/relationships/notesSlide" Target="/ppt/notesSlides/notesSlide1.xml" Id="Rf87447d205dd4f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7cc4d32784323" /><Relationship Type="http://schemas.openxmlformats.org/officeDocument/2006/relationships/notesSlide" Target="/ppt/notesSlides/notesSlide2.xml" Id="Rde7c0b06f19b47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318942f574777" /><Relationship Type="http://schemas.openxmlformats.org/officeDocument/2006/relationships/notesSlide" Target="/ppt/notesSlides/notesSlide3.xml" Id="Rf3eeed7b475d49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89e30ea384352" /><Relationship Type="http://schemas.openxmlformats.org/officeDocument/2006/relationships/notesSlide" Target="/ppt/notesSlides/notesSlide4.xml" Id="R4a71e21496784c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CB408C-745E-4AB1-AEC9-B9161F5E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7D801-273B-43D3-8D4D-4DB827D9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322D"/>
                </a:solidFill>
              </a:defRPr>
            </a:pPr>
            <a:r>
              <a:rPr sz="900" b="1">
                <a:solidFill>
                  <a:srgbClr val="A5322D"/>
                </a:solidFill>
              </a:rPr>
              <a:t>RELATED WORK  /  04 / PRECEDENT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15DE7-EC7D-44D7-9494-E2543206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B2926"/>
                </a:solidFill>
              </a:defRPr>
            </a:pPr>
            <a:r>
              <a:rPr sz="2325" b="1">
                <a:solidFill>
                  <a:srgbClr val="2B2926"/>
                </a:solidFill>
              </a:rPr>
              <a:t>Room Escape at Class: real network knowledge becomes the puzzle.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00988-72B3-43C7-A2F2-78EEA26B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5322D"/>
                </a:solidFill>
              </a:defRPr>
            </a:pPr>
            <a:r>
              <a:rPr sz="1200" b="1">
                <a:solidFill>
                  <a:srgbClr val="A5322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CEE02-AB89-435B-B6FF-D09FE930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9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3F0C0-4E5A-4AAB-A8E1-C8C7EF7E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5322D"/>
                </a:solidFill>
              </a:defRPr>
            </a:pPr>
            <a:r>
              <a:rPr sz="2100" b="1">
                <a:solidFill>
                  <a:srgbClr val="A5322D"/>
                </a:solidFill>
              </a:rPr>
              <a:t>Room Escape at Class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D59AF-B869-4005-BCEE-48AADFBB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B4931"/>
                </a:solidFill>
              </a:defRPr>
            </a:pPr>
            <a:r>
              <a:rPr sz="1425" b="1">
                <a:solidFill>
                  <a:srgbClr val="6B4931"/>
                </a:solidFill>
              </a:rPr>
              <a:t>Escape games เพื่อการเรียนรู้ Computer Networks และ Information Security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2D2A2-7DEA-4E88-9B76-D1146060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953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88E38-4E78-4766-91A7-B2BE2784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5322D"/>
                </a:solidFill>
              </a:defRPr>
            </a:pPr>
            <a:r>
              <a:rPr sz="1050" b="1">
                <a:solidFill>
                  <a:srgbClr val="A5322D"/>
                </a:solidFill>
              </a:rPr>
              <a:t>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96F95-E202-4310-A429-14AA91BE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57625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926"/>
                </a:solidFill>
              </a:defRPr>
            </a:pPr>
            <a:r>
              <a:rPr sz="1575" b="0">
                <a:solidFill>
                  <a:srgbClr val="2B2926"/>
                </a:solidFill>
              </a:rPr>
              <a:t>กิจกรรมสำหรับนักศึกษาวิศวกรรมศาสตร์</a:t>
            </a:r>
          </a:p>
          <a:p xmlns:a="http://schemas.openxmlformats.org/drawingml/2006/main">
            <a:pPr algn="l">
              <a:defRPr sz="1575" b="0">
                <a:solidFill>
                  <a:srgbClr val="2B2926"/>
                </a:solidFill>
              </a:defRPr>
            </a:pPr>
            <a:r>
              <a:rPr sz="1575" b="0">
                <a:solidFill>
                  <a:srgbClr val="2B2926"/>
                </a:solidFill>
              </a:rPr>
              <a:t>ใช้รูปแบบห้อง escape room เป็นสภาพแวดล้อม</a:t>
            </a:r>
          </a:p>
          <a:p xmlns:a="http://schemas.openxmlformats.org/drawingml/2006/main">
            <a:pPr algn="l">
              <a:defRPr sz="1575" b="0">
                <a:solidFill>
                  <a:srgbClr val="2B2926"/>
                </a:solidFill>
              </a:defRPr>
            </a:pPr>
            <a:r>
              <a:rPr sz="1575" b="0">
                <a:solidFill>
                  <a:srgbClr val="2B2926"/>
                </a:solidFill>
              </a:rPr>
              <a:t>สำหรับเรียนรู้เนื้อหา Computer Networks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013AF-E0CE-47BC-892B-E43CD0CA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F5E78F-F05F-4477-B1CD-35351D33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0"/>
            <a:ext cx="2571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E406CC-CA18-4166-AC84-427D670E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479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B2926"/>
                </a:solidFill>
              </a:defRPr>
            </a:pPr>
            <a:r>
              <a:rPr sz="1875" b="1">
                <a:solidFill>
                  <a:srgbClr val="2B2926"/>
                </a:solidFill>
              </a:rPr>
              <a:t>ESCAPE ROOM</a:t>
            </a:r>
          </a:p>
          <a:p xmlns:a="http://schemas.openxmlformats.org/drawingml/2006/main">
            <a:pPr algn="ctr">
              <a:defRPr sz="1875" b="1">
                <a:solidFill>
                  <a:srgbClr val="2B2926"/>
                </a:solidFill>
              </a:defRPr>
            </a:pPr>
            <a:r>
              <a:rPr sz="1875" b="1">
                <a:solidFill>
                  <a:srgbClr val="2B2926"/>
                </a:solidFill>
              </a:rPr>
              <a:t>NETWORK CASE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763D4-D2D9-4C7B-8C13-4F7BB643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71875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A"/>
          </a:solidFill>
          <a:ln xmlns:a="http://schemas.openxmlformats.org/drawingml/2006/main" w="19050">
            <a:solidFill>
              <a:srgbClr val="6A9B9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F43257-E823-4566-9624-6AA8A883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433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A9B91"/>
                </a:solidFill>
              </a:defRPr>
            </a:pPr>
            <a:r>
              <a:rPr sz="1275" b="1">
                <a:solidFill>
                  <a:srgbClr val="6A9B91"/>
                </a:solidFill>
              </a:rPr>
              <a:t>IP PACKET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77891c73a48ac"/>
          <a:stretch xmlns:a="http://schemas.openxmlformats.org/drawingml/2006/main"/>
        </p:blipFill>
        <p:spPr>
          <a:xfrm xmlns:a="http://schemas.openxmlformats.org/drawingml/2006/main">
            <a:off x="7572375" y="4010025"/>
            <a:ext cx="552450" cy="55245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bc879cdad4cb7"/>
          <a:stretch xmlns:a="http://schemas.openxmlformats.org/drawingml/2006/main"/>
        </p:blipFill>
        <p:spPr>
          <a:xfrm xmlns:a="http://schemas.openxmlformats.org/drawingml/2006/main">
            <a:off x="9525000" y="4010025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0D022-3EB9-4B01-9E83-830C5E9E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4931"/>
                </a:solidFill>
              </a:defRPr>
            </a:pPr>
            <a:r>
              <a:rPr sz="900" b="0">
                <a:solidFill>
                  <a:srgbClr val="6B4931"/>
                </a:solidFill>
              </a:rPr>
              <a:t>[2] Borrego et al. (2017)</a:t>
            </a:r>
          </a:p>
        </p:txBody>
      </p:sp>
    </p:spTree>
    <p:extLst>
      <p:ext uri="{BB962C8B-B14F-4D97-AF65-F5344CB8AC3E}">
        <p14:creationId xmlns:p14="http://schemas.microsoft.com/office/powerpoint/2010/main" val="10971553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CACB9C-B9EF-4E62-B369-2B6DC617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93E3C-2E10-444C-8360-0FC0322C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322D"/>
                </a:solidFill>
              </a:defRPr>
            </a:pPr>
            <a:r>
              <a:rPr sz="900" b="1">
                <a:solidFill>
                  <a:srgbClr val="A5322D"/>
                </a:solidFill>
              </a:rPr>
              <a:t>RELATED WORK  /  05 / PRECEDENT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D9D16-4F88-4342-A251-546254B7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B2926"/>
                </a:solidFill>
              </a:defRPr>
            </a:pPr>
            <a:r>
              <a:rPr sz="2325" b="1">
                <a:solidFill>
                  <a:srgbClr val="2B2926"/>
                </a:solidFill>
              </a:rPr>
              <a:t>The activity connects technical operations directly to puzzle solving.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1BE3D-9F1B-433A-B167-8DF24346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5322D"/>
                </a:solidFill>
              </a:defRPr>
            </a:pPr>
            <a:r>
              <a:rPr sz="1200" b="1">
                <a:solidFill>
                  <a:srgbClr val="A5322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B7BB3-7FED-4685-8BEB-27713B28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9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307783-BC43-4990-80E5-98DBE4D3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5322D"/>
                </a:solidFill>
              </a:defRPr>
            </a:pPr>
            <a:r>
              <a:rPr sz="1950" b="1">
                <a:solidFill>
                  <a:srgbClr val="A5322D"/>
                </a:solidFill>
              </a:rPr>
              <a:t>How the activity works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7370E-B228-4E1D-AF99-E263F4AA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146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A532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822313-7136-4A5B-B0D8-E2746145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956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5322D"/>
                </a:solidFill>
              </a:defRPr>
            </a:pPr>
            <a:r>
              <a:rPr sz="1050" b="1">
                <a:solidFill>
                  <a:srgbClr val="A5322D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9A4858-3A5F-47F8-A9B2-8D7867BB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743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926"/>
                </a:solidFill>
              </a:defRPr>
            </a:pPr>
            <a:r>
              <a:rPr sz="1275" b="1">
                <a:solidFill>
                  <a:srgbClr val="2B2926"/>
                </a:solidFill>
              </a:rPr>
              <a:t>CREATE IP PACKET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59CB6C-EDA0-47C3-B1ED-E6B1C95C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480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4931"/>
                </a:solidFill>
              </a:defRPr>
            </a:pPr>
            <a:r>
              <a:rPr sz="1275" b="0">
                <a:solidFill>
                  <a:srgbClr val="6B4931"/>
                </a:solidFill>
              </a:rPr>
              <a:t>ผู้เรียนสร้าง IP packet ตามโจทย์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B3C9B-8D53-494B-B187-EAD6EA3E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671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A532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6B540-5178-4094-9B53-401820BB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481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5322D"/>
                </a:solidFill>
              </a:defRPr>
            </a:pPr>
            <a:r>
              <a:rPr sz="1050" b="1">
                <a:solidFill>
                  <a:srgbClr val="A5322D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A8CD8-BD10-4F66-A550-0B89849E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6957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926"/>
                </a:solidFill>
              </a:defRPr>
            </a:pPr>
            <a:r>
              <a:rPr sz="1275" b="1">
                <a:solidFill>
                  <a:srgbClr val="2B2926"/>
                </a:solidFill>
              </a:rPr>
              <a:t>COMPRESS EMAIL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F7FF35-336D-47B6-ABD6-094567ED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0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4931"/>
                </a:solidFill>
              </a:defRPr>
            </a:pPr>
            <a:r>
              <a:rPr sz="1275" b="0">
                <a:solidFill>
                  <a:srgbClr val="6B4931"/>
                </a:solidFill>
              </a:rPr>
              <a:t>ส่งอีเมลที่บีบอัดด้วย LZ77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CFE88-21FE-41C0-8ECA-294FAA93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196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A532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0531C-92F9-4A8F-B11C-E9BDE4DB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006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5322D"/>
                </a:solidFill>
              </a:defRPr>
            </a:pPr>
            <a:r>
              <a:rPr sz="1050" b="1">
                <a:solidFill>
                  <a:srgbClr val="A5322D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F267FA-FB78-48B3-94AA-D9E28FEA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48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926"/>
                </a:solidFill>
              </a:defRPr>
            </a:pPr>
            <a:r>
              <a:rPr sz="1275" b="1">
                <a:solidFill>
                  <a:srgbClr val="2B2926"/>
                </a:solidFill>
              </a:rPr>
              <a:t>SOLVE THE ROOM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E89647-733B-4D40-9C52-B1437415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9530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4931"/>
                </a:solidFill>
              </a:defRPr>
            </a:pPr>
            <a:r>
              <a:rPr sz="1275" b="0">
                <a:solidFill>
                  <a:srgbClr val="6B4931"/>
                </a:solidFill>
              </a:rPr>
              <a:t>ใช้คำตอบจากงานจริงเพื่อไขปริศนา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9608E7-9AA9-40A6-8F67-EB3372BD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37147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A5322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E17B69-1F87-4180-AB61-22DEC4E6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A5322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2B87DF-5194-4417-B517-13A3D516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867025"/>
            <a:ext cx="2038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5322D"/>
                </a:solidFill>
              </a:defRPr>
            </a:pPr>
            <a:r>
              <a:rPr sz="825" b="1">
                <a:solidFill>
                  <a:srgbClr val="A5322D"/>
                </a:solidFill>
              </a:rPr>
              <a:t>RESEARCH LIMITATION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3DEDBD-4089-4D7E-BFFC-8AE301DA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2926"/>
                </a:solidFill>
              </a:defRPr>
            </a:pPr>
            <a:r>
              <a:rPr sz="1500" b="1">
                <a:solidFill>
                  <a:srgbClr val="2B2926"/>
                </a:solidFill>
              </a:rPr>
              <a:t>ผู้เรียนเห็นข้อมูลร่วมกันทั้งหมด</a:t>
            </a:r>
          </a:p>
          <a:p xmlns:a="http://schemas.openxmlformats.org/drawingml/2006/main">
            <a:pPr algn="l">
              <a:defRPr sz="1500" b="1">
                <a:solidFill>
                  <a:srgbClr val="2B2926"/>
                </a:solidFill>
              </a:defRPr>
            </a:pPr>
            <a:r>
              <a:rPr sz="1500" b="1">
                <a:solidFill>
                  <a:srgbClr val="2B2926"/>
                </a:solidFill>
              </a:rPr>
              <a:t>ไม่มี role แยก</a:t>
            </a:r>
          </a:p>
          <a:p xmlns:a="http://schemas.openxmlformats.org/drawingml/2006/main">
            <a:pPr algn="l">
              <a:defRPr sz="1500" b="1">
                <a:solidFill>
                  <a:srgbClr val="2B2926"/>
                </a:solidFill>
              </a:defRPr>
            </a:pPr>
            <a:r>
              <a:rPr sz="1500" b="1">
                <a:solidFill>
                  <a:srgbClr val="2B2926"/>
                </a:solidFill>
              </a:rPr>
              <a:t>ไม่มี information gap ระหว่างผู้เล่น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462386-AF8C-4FC1-ABAD-8A1E3F4E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006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34B5C"/>
                </a:solidFill>
              </a:defRPr>
            </a:pPr>
            <a:r>
              <a:rPr sz="1350" b="1">
                <a:solidFill>
                  <a:srgbClr val="234B5C"/>
                </a:solidFill>
              </a:rPr>
              <a:t>Our extension: two rooms, two roles, partial evidence.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4E0D4F-55AA-44A4-8710-6CC36E2D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4931"/>
                </a:solidFill>
              </a:defRPr>
            </a:pPr>
            <a:r>
              <a:rPr sz="900" b="0">
                <a:solidFill>
                  <a:srgbClr val="6B4931"/>
                </a:solidFill>
              </a:rPr>
              <a:t>[2] Borrego et al. (2017)</a:t>
            </a:r>
          </a:p>
        </p:txBody>
      </p:sp>
    </p:spTree>
    <p:extLst>
      <p:ext uri="{BB962C8B-B14F-4D97-AF65-F5344CB8AC3E}">
        <p14:creationId xmlns:p14="http://schemas.microsoft.com/office/powerpoint/2010/main" val="2334889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534E6-793C-482A-BEB8-DACF0054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9F628-31E0-4852-9143-DDB9F8B3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322D"/>
                </a:solidFill>
              </a:defRPr>
            </a:pPr>
            <a:r>
              <a:rPr sz="900" b="1">
                <a:solidFill>
                  <a:srgbClr val="A5322D"/>
                </a:solidFill>
              </a:rPr>
              <a:t>RELATED WORK  /  06 / PRECEDENT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05885-192D-4F4F-B85F-0D00F174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B2926"/>
                </a:solidFill>
              </a:defRPr>
            </a:pPr>
            <a:r>
              <a:rPr sz="2325" b="1">
                <a:solidFill>
                  <a:srgbClr val="2B2926"/>
                </a:solidFill>
              </a:rPr>
              <a:t>Digital escape rooms can increase motivation and learner engagement.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51A9F-BF50-4241-B138-6DBF2641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5322D"/>
                </a:solidFill>
              </a:defRPr>
            </a:pPr>
            <a:r>
              <a:rPr sz="1200" b="1">
                <a:solidFill>
                  <a:srgbClr val="A5322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70285-C903-4635-A3E6-2742FB7D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9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EF297-DBAB-413E-9D39-FD594ABA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5322D"/>
                </a:solidFill>
              </a:defRPr>
            </a:pPr>
            <a:r>
              <a:rPr sz="2025" b="1">
                <a:solidFill>
                  <a:srgbClr val="A5322D"/>
                </a:solidFill>
              </a:rPr>
              <a:t>The Impact of a Digital Escape Room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4AEC26-C623-4987-98BC-F5FA56A3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B4931"/>
                </a:solidFill>
              </a:defRPr>
            </a:pPr>
            <a:r>
              <a:rPr sz="1425" b="1">
                <a:solidFill>
                  <a:srgbClr val="6B4931"/>
                </a:solidFill>
              </a:rPr>
              <a:t>HTML + Computer Networks / Education Sciences (2022)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5D5BC-A129-47BF-8D67-1AC48D91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762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21A266-04E1-43DB-A1D9-5E3F410F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290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5322D"/>
                </a:solidFill>
              </a:defRPr>
            </a:pPr>
            <a:r>
              <a:rPr sz="1050" b="1">
                <a:solidFill>
                  <a:srgbClr val="A5322D"/>
                </a:solidFill>
              </a:rPr>
              <a:t>STUDY FINDINGS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CD49E0-3A12-406F-84AA-5FF79E8A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4B5C"/>
                </a:solidFill>
              </a:defRPr>
            </a:pPr>
            <a:r>
              <a:rPr sz="1650" b="1">
                <a:solidFill>
                  <a:srgbClr val="234B5C"/>
                </a:solidFill>
              </a:rPr>
              <a:t>แรงจูงใจ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C987A-160F-488B-BDE9-007330F1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052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5322D"/>
                </a:solidFill>
              </a:defRPr>
            </a:pPr>
            <a:r>
              <a:rPr sz="1800" b="1">
                <a:solidFill>
                  <a:srgbClr val="A5322D"/>
                </a:solidFill>
              </a:rPr>
              <a:t>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7B1C4-A666-4313-BECB-886B060D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4B5C"/>
                </a:solidFill>
              </a:defRPr>
            </a:pPr>
            <a:r>
              <a:rPr sz="1650" b="1">
                <a:solidFill>
                  <a:srgbClr val="234B5C"/>
                </a:solidFill>
              </a:rPr>
              <a:t>ความผูกพัน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CE84B-1DFB-437A-87B8-8519675B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053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5322D"/>
                </a:solidFill>
              </a:defRPr>
            </a:pPr>
            <a:r>
              <a:rPr sz="1800" b="1">
                <a:solidFill>
                  <a:srgbClr val="A5322D"/>
                </a:solidFill>
              </a:rPr>
              <a:t>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595C5D-FF43-40FF-BA07-A67B0280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053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4B5C"/>
                </a:solidFill>
              </a:defRPr>
            </a:pPr>
            <a:r>
              <a:rPr sz="1650" b="1">
                <a:solidFill>
                  <a:srgbClr val="234B5C"/>
                </a:solidFill>
              </a:rPr>
              <a:t>ความพึงพอใจ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3718D9-DAB9-46F3-8107-A7EF1AB1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053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5322D"/>
                </a:solidFill>
              </a:defRPr>
            </a:pPr>
            <a:r>
              <a:rPr sz="1800" b="1">
                <a:solidFill>
                  <a:srgbClr val="A5322D"/>
                </a:solidFill>
              </a:rPr>
              <a:t>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FD82E2-5DFC-49CA-83B0-4B93C25F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A"/>
          </a:solidFill>
          <a:ln xmlns:a="http://schemas.openxmlformats.org/drawingml/2006/main" w="19050">
            <a:solidFill>
              <a:srgbClr val="6A9B9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410482-74E2-4179-92E6-77117DDB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228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DF8"/>
                </a:solidFill>
              </a:defRPr>
            </a:pPr>
            <a:r>
              <a:rPr sz="2325" b="1">
                <a:solidFill>
                  <a:srgbClr val="FFFDF8"/>
                </a:solidFill>
              </a:rPr>
              <a:t>HTML</a:t>
            </a:r>
          </a:p>
          <a:p xmlns:a="http://schemas.openxmlformats.org/drawingml/2006/main">
            <a:pPr algn="ctr">
              <a:defRPr sz="2325" b="1">
                <a:solidFill>
                  <a:srgbClr val="FFFDF8"/>
                </a:solidFill>
              </a:defRPr>
            </a:pPr>
            <a:r>
              <a:rPr sz="2325" b="1">
                <a:solidFill>
                  <a:srgbClr val="FFFDF8"/>
                </a:solidFill>
              </a:rPr>
              <a:t>+</a:t>
            </a:r>
          </a:p>
          <a:p xmlns:a="http://schemas.openxmlformats.org/drawingml/2006/main">
            <a:pPr algn="ctr">
              <a:defRPr sz="2325" b="1">
                <a:solidFill>
                  <a:srgbClr val="FFFDF8"/>
                </a:solidFill>
              </a:defRPr>
            </a:pPr>
            <a:r>
              <a:rPr sz="2325" b="1">
                <a:solidFill>
                  <a:srgbClr val="FFFDF8"/>
                </a:solidFill>
              </a:rPr>
              <a:t>NETWORKS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C4FF2-7CFD-4C05-990D-5FD676E4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9100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A9B91"/>
                </a:solidFill>
              </a:defRPr>
            </a:pPr>
            <a:r>
              <a:rPr sz="1275" b="1">
                <a:solidFill>
                  <a:srgbClr val="6A9B91"/>
                </a:solidFill>
              </a:rPr>
              <a:t>Vocational high school</a:t>
            </a:r>
          </a:p>
          <a:p xmlns:a="http://schemas.openxmlformats.org/drawingml/2006/main">
            <a:pPr algn="ctr">
              <a:defRPr sz="1275" b="1">
                <a:solidFill>
                  <a:srgbClr val="6A9B91"/>
                </a:solidFill>
              </a:defRPr>
            </a:pPr>
            <a:r>
              <a:rPr sz="1275" b="1">
                <a:solidFill>
                  <a:srgbClr val="6A9B91"/>
                </a:solidFill>
              </a:rPr>
              <a:t>students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152073-0C52-454A-BD5B-EF664915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B4931"/>
                </a:solidFill>
              </a:defRPr>
            </a:pPr>
            <a:r>
              <a:rPr sz="1575" b="1">
                <a:solidFill>
                  <a:srgbClr val="6B4931"/>
                </a:solidFill>
              </a:rPr>
              <a:t>Evidence: escape-room format creates an active learning context.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E34855-43CB-4F17-9B29-D74EB3AE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4931"/>
                </a:solidFill>
              </a:defRPr>
            </a:pPr>
            <a:r>
              <a:rPr sz="900" b="0">
                <a:solidFill>
                  <a:srgbClr val="6B4931"/>
                </a:solidFill>
              </a:rPr>
              <a:t>[3] Education Sciences, 12(10), 682</a:t>
            </a:r>
          </a:p>
        </p:txBody>
      </p:sp>
    </p:spTree>
    <p:extLst>
      <p:ext uri="{BB962C8B-B14F-4D97-AF65-F5344CB8AC3E}">
        <p14:creationId xmlns:p14="http://schemas.microsoft.com/office/powerpoint/2010/main" val="10369307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E2BD12-0DC7-4473-BC1A-67FC2202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26E66-1ED9-4B70-92A8-596485B8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322D"/>
                </a:solidFill>
              </a:defRPr>
            </a:pPr>
            <a:r>
              <a:rPr sz="900" b="1">
                <a:solidFill>
                  <a:srgbClr val="A5322D"/>
                </a:solidFill>
              </a:rPr>
              <a:t>RELATED WORK  /  07 / PRECEDENT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788BA-6FEF-4113-BDA7-DD0C098A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B2926"/>
                </a:solidFill>
              </a:defRPr>
            </a:pPr>
            <a:r>
              <a:rPr sz="2325" b="1">
                <a:solidFill>
                  <a:srgbClr val="2B2926"/>
                </a:solidFill>
              </a:rPr>
              <a:t>Our project extends the digital escape room with real-time cooperation.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B8B9D-7137-4CAE-99D3-B45B9760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5322D"/>
                </a:solidFill>
              </a:defRPr>
            </a:pPr>
            <a:r>
              <a:rPr sz="1200" b="1">
                <a:solidFill>
                  <a:srgbClr val="A5322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71AC0-F93A-49A4-8228-83A676EA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9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A1D26-3E44-4D41-88A5-2C5297AB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5322D"/>
                </a:solidFill>
              </a:defRPr>
            </a:pPr>
            <a:r>
              <a:rPr sz="2025" b="1">
                <a:solidFill>
                  <a:srgbClr val="A5322D"/>
                </a:solidFill>
              </a:rPr>
              <a:t>Research gap → our contribution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D4697-5188-4662-AF39-146B3A25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191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58465-D4CE-4E3D-BB58-40258FD9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34B5C"/>
                </a:solidFill>
              </a:defRPr>
            </a:pPr>
            <a:r>
              <a:rPr sz="1275" b="1">
                <a:solidFill>
                  <a:srgbClr val="234B5C"/>
                </a:solidFill>
              </a:rPr>
              <a:t>DIGITAL ESCAPE ROOM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2DA11-D443-42A7-A62B-F904444C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B2926"/>
                </a:solidFill>
              </a:defRPr>
            </a:pPr>
            <a:r>
              <a:rPr sz="1725" b="1">
                <a:solidFill>
                  <a:srgbClr val="2B2926"/>
                </a:solidFill>
              </a:rPr>
              <a:t>single-player</a:t>
            </a:r>
          </a:p>
          <a:p xmlns:a="http://schemas.openxmlformats.org/drawingml/2006/main">
            <a:pPr algn="ctr">
              <a:defRPr sz="1725" b="1">
                <a:solidFill>
                  <a:srgbClr val="2B2926"/>
                </a:solidFill>
              </a:defRPr>
            </a:pPr>
            <a:r>
              <a:rPr sz="1725" b="1">
                <a:solidFill>
                  <a:srgbClr val="2B2926"/>
                </a:solidFill>
              </a:rPr>
              <a:t>ผู้เรียนแก้โจทย์ด้วยตัวเอง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439E6-BCA1-44D7-B86C-4E6A4983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4191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A"/>
          </a:solidFill>
          <a:ln xmlns:a="http://schemas.openxmlformats.org/drawingml/2006/main" w="19050">
            <a:solidFill>
              <a:srgbClr val="6A9B9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BE776-EB50-4E1E-BE2B-71608FBD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908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A9B91"/>
                </a:solidFill>
              </a:defRPr>
            </a:pPr>
            <a:r>
              <a:rPr sz="1275" b="1">
                <a:solidFill>
                  <a:srgbClr val="6A9B91"/>
                </a:solidFill>
              </a:rPr>
              <a:t>TWO ROOMS, ONE NETWORK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C1EEF-2749-44CC-A94D-84F9847B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DF8"/>
                </a:solidFill>
              </a:defRPr>
            </a:pPr>
            <a:r>
              <a:rPr sz="1650" b="1">
                <a:solidFill>
                  <a:srgbClr val="FFFDF8"/>
                </a:solidFill>
              </a:rPr>
              <a:t>two-player co-op</a:t>
            </a:r>
          </a:p>
          <a:p xmlns:a="http://schemas.openxmlformats.org/drawingml/2006/main">
            <a:pPr algn="ctr">
              <a:defRPr sz="1650" b="1">
                <a:solidFill>
                  <a:srgbClr val="FFFDF8"/>
                </a:solidFill>
              </a:defRPr>
            </a:pPr>
            <a:r>
              <a:rPr sz="1650" b="1">
                <a:solidFill>
                  <a:srgbClr val="FFFDF8"/>
                </a:solidFill>
              </a:rPr>
              <a:t>ข้อมูลคนละส่วน + ต้องสื่อสาร real-time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17E15-CD1E-4A02-B4C7-2AF3A9CA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2425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6DBE8-038F-4C27-ADFB-6E7F8FCF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524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A532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1B33F0-5DB8-4CD4-BEE3-7AA7B2CB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4352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5322D"/>
                </a:solidFill>
              </a:defRPr>
            </a:pPr>
            <a:r>
              <a:rPr sz="825" b="1">
                <a:solidFill>
                  <a:srgbClr val="A5322D"/>
                </a:solidFill>
              </a:rPr>
              <a:t>OUR EXTENSION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D42935-78A7-47B1-A79A-B9C650DC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149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926"/>
                </a:solidFill>
              </a:defRPr>
            </a:pPr>
            <a:r>
              <a:rPr sz="1350" b="1">
                <a:solidFill>
                  <a:srgbClr val="2B2926"/>
                </a:solidFill>
              </a:rPr>
              <a:t>เปลี่ยน “ผู้เรียนคนเดียว” เป็นคู่ผู้เล่นที่ต้องใช้ network reasoning และ communication พร้อมกัน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BB43A2-ED8D-4356-9EF6-D2388EFA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4931"/>
                </a:solidFill>
              </a:defRPr>
            </a:pPr>
            <a:r>
              <a:rPr sz="900" b="0">
                <a:solidFill>
                  <a:srgbClr val="6B4931"/>
                </a:solidFill>
              </a:rPr>
              <a:t>[3] Education Sciences, 12(10), 682</a:t>
            </a:r>
          </a:p>
        </p:txBody>
      </p:sp>
    </p:spTree>
    <p:extLst>
      <p:ext uri="{BB962C8B-B14F-4D97-AF65-F5344CB8AC3E}">
        <p14:creationId xmlns:p14="http://schemas.microsoft.com/office/powerpoint/2010/main" val="9400025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2026-08-12T08:41:45.5390000Z</dcterms:created>
  <dcterms:modified xsi:type="dcterms:W3CDTF">2026-08-12T08:41:45.5390000Z</dcterms:modified>
</coreProperties>
</file>